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907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6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943600" y="6400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Kakao mobility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749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서강대학교 </a:t>
            </a:r>
            <a:r>
              <a:rPr lang="ko-KR" altLang="en-US" sz="1200" kern="0" spc="3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캡스톤디자인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역삼동 택시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6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r>
              <a:rPr lang="ko-KR" altLang="en-US" sz="16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조</a:t>
            </a:r>
            <a:endParaRPr lang="en-US" altLang="ko-Kore-KR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Malgun Gothic"/>
              </a:rPr>
              <a:t>Track 3 AI 5</a:t>
            </a:r>
            <a:r>
              <a:rPr lang="ko-KR" altLang="en-US" sz="1300" dirty="0">
                <a:latin typeface="Malgun Gothic"/>
              </a:rPr>
              <a:t>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A1A1A"/>
                </a:solidFill>
                <a:latin typeface="Malgun Gothic"/>
              </a:rPr>
              <a:t>개요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97764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 dirty="0" err="1">
                <a:solidFill>
                  <a:srgbClr val="FFFFFF"/>
                </a:solidFill>
                <a:latin typeface="Malgun Gothic"/>
              </a:rPr>
              <a:t>프로젝트</a:t>
            </a:r>
            <a:r>
              <a:rPr sz="15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Malgun Gothic"/>
              </a:rPr>
              <a:t>개요·변경점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 dirty="0">
                <a:solidFill>
                  <a:srgbClr val="AAAAAA"/>
                </a:solidFill>
                <a:latin typeface="Malgun Gothic"/>
              </a:rPr>
              <a:t>1~4: </a:t>
            </a:r>
            <a:r>
              <a:rPr sz="1050" dirty="0" err="1">
                <a:solidFill>
                  <a:srgbClr val="AAAAAA"/>
                </a:solidFill>
                <a:latin typeface="Malgun Gothic"/>
              </a:rPr>
              <a:t>문제</a:t>
            </a:r>
            <a:r>
              <a:rPr sz="1050" dirty="0">
                <a:solidFill>
                  <a:srgbClr val="AAAAAA"/>
                </a:solidFill>
                <a:latin typeface="Malgun Gothic"/>
              </a:rPr>
              <a:t> </a:t>
            </a:r>
            <a:r>
              <a:rPr sz="1050" dirty="0" err="1">
                <a:solidFill>
                  <a:srgbClr val="AAAAAA"/>
                </a:solidFill>
                <a:latin typeface="Malgun Gothic"/>
              </a:rPr>
              <a:t>정의와</a:t>
            </a:r>
            <a:r>
              <a:rPr sz="1050" dirty="0">
                <a:solidFill>
                  <a:srgbClr val="AAAAAA"/>
                </a:solidFill>
                <a:latin typeface="Malgun Gothic"/>
              </a:rPr>
              <a:t> </a:t>
            </a:r>
            <a:r>
              <a:rPr sz="1050" dirty="0" err="1">
                <a:solidFill>
                  <a:srgbClr val="AAAAAA"/>
                </a:solidFill>
                <a:latin typeface="Malgun Gothic"/>
              </a:rPr>
              <a:t>범위</a:t>
            </a:r>
            <a:r>
              <a:rPr sz="1050" dirty="0">
                <a:solidFill>
                  <a:srgbClr val="AAAAAA"/>
                </a:solidFill>
                <a:latin typeface="Malgun Gothic"/>
              </a:rPr>
              <a:t> </a:t>
            </a:r>
            <a:r>
              <a:rPr sz="1050" dirty="0" err="1">
                <a:solidFill>
                  <a:srgbClr val="AAAAAA"/>
                </a:solidFill>
                <a:latin typeface="Malgun Gothic"/>
              </a:rPr>
              <a:t>변경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776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19472" y="1783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19472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latin typeface="Malgun Gothic"/>
              </a:rPr>
              <a:t>지도 구현·배포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 dirty="0">
                <a:latin typeface="Malgun Gothic"/>
              </a:rPr>
              <a:t>5~8: </a:t>
            </a:r>
            <a:r>
              <a:rPr sz="1050" dirty="0" err="1">
                <a:latin typeface="Malgun Gothic"/>
              </a:rPr>
              <a:t>OSM·Three.js·Cloudflare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97764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0352" y="3200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30352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Malgun Gothic"/>
              </a:rPr>
              <a:t>데이터 수집·모델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AAAAAA"/>
                </a:solidFill>
                <a:latin typeface="Malgun Gothic"/>
              </a:rPr>
              <a:t>9~11: proxy 데이터와 Colab 결과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397764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9776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19472" y="3200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919472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latin typeface="Malgun Gothic"/>
              </a:rPr>
              <a:t>서비스 연결·한계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19472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12~15: 프로토타입과 다음 단계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그래서 </a:t>
            </a:r>
            <a:r>
              <a:rPr lang="en-US" sz="2800" b="1" dirty="0" err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무엇을</a:t>
            </a: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만들었나요?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0604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6060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16152" y="1737360"/>
            <a:ext cx="914400" cy="9144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856232"/>
            <a:ext cx="676656" cy="676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>
                <a:latin typeface="Malgun Gothic"/>
              </a:rPr>
              <a:t>강남 9개 동 실제 도로망을</a:t>
            </a:r>
            <a:endParaRPr lang="en-US" sz="1200" dirty="0"/>
          </a:p>
          <a:p>
            <a:pPr algn="ctr"/>
            <a:r>
              <a:rPr sz="1300">
                <a:latin typeface="Malgun Gothic"/>
              </a:rPr>
              <a:t>3D로 가상화한 환경에서</a:t>
            </a:r>
          </a:p>
          <a:p>
            <a:pPr algn="ctr"/>
            <a:r>
              <a:rPr sz="1300">
                <a:latin typeface="Malgun Gothic"/>
              </a:rPr>
              <a:t>이동 수요·차량 흐름 시뮬레이션</a:t>
            </a:r>
          </a:p>
        </p:txBody>
      </p:sp>
      <p:sp>
        <p:nvSpPr>
          <p:cNvPr id="13" name="Shape 10"/>
          <p:cNvSpPr/>
          <p:nvPr/>
        </p:nvSpPr>
        <p:spPr>
          <a:xfrm>
            <a:off x="3182112" y="1554480"/>
            <a:ext cx="260604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182112" y="1554480"/>
            <a:ext cx="26060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032504" y="17373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1856232"/>
            <a:ext cx="676656" cy="676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73552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수요 예측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273552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시공간 피처 기반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 모델로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뒤 이동 수요 proxy 예측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98464" y="1554480"/>
            <a:ext cx="260604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998464" y="1554480"/>
            <a:ext cx="260604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848856" y="1737360"/>
            <a:ext cx="914400" cy="9144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1856232"/>
            <a:ext cx="676656" cy="6766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9904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>
                <a:latin typeface="Malgun Gothic"/>
              </a:rPr>
              <a:t>배차 연결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089904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>
                <a:latin typeface="Malgun Gothic"/>
              </a:rPr>
              <a:t>동별 수요 신호를 지도에 연결하고</a:t>
            </a:r>
            <a:endParaRPr lang="en-US" sz="1200" dirty="0"/>
          </a:p>
          <a:p>
            <a:pPr algn="ctr"/>
            <a:r>
              <a:rPr sz="1300">
                <a:latin typeface="Malgun Gothic"/>
              </a:rPr>
              <a:t>향후 실제 호출 데이터 확보 시</a:t>
            </a:r>
          </a:p>
          <a:p>
            <a:pPr algn="ctr"/>
            <a:r>
              <a:rPr sz="1300">
                <a:latin typeface="Malgun Gothic"/>
              </a:rPr>
              <a:t>배차 정책으로 확장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역삼 택시  · 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사항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명세서와 다르게 구현한 부분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현실적이고 의미 있는 결과를 위한 의도적 변경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범위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1920240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3×3 블럭 추상 격자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4340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latin typeface="Malgun Gothic"/>
              </a:rPr>
              <a:t>✓  강남 9개 행정동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강남권 이동 수요가 집중되는 실제 행정구역 반영, 의미 있는 예측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633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데이터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2633472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783080" y="2633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추상 3D Map Asset 제공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6334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2633472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43400" y="2633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OSM 실제 도로 데이터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6334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OSM 노드/엣지 추출 → 실제 도로 위상 반영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84124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346704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34670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렌더링 엔진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83080" y="3346704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78308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SUMO / Carla 시뮬레이터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3467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43400" y="3346704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34340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Three.js 웹 기반 3D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346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설치 없이 바로 시연, 발표·공유 용이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6849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4059936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0599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환경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83080" y="4059936"/>
            <a:ext cx="21031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78308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로컬 실행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31920" y="40599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43400" y="4059936"/>
            <a:ext cx="21031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43400" y="4059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latin typeface="Malgun Gothic"/>
              </a:rPr>
              <a:t>✓  Cloudflare Pages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40599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하나로 즉시 접속 가능한 라이브 데모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구현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Three.js + OpenStreetMap(OSM) 구현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931920" cy="3337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931920" cy="9144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709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도로 데이터 파이프라인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212848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22128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20">
                <a:solidFill>
                  <a:srgbClr val="FFFFFF"/>
                </a:solidFill>
                <a:latin typeface="Malgun Gothic"/>
              </a:rPr>
              <a:t>① Overpass API → 강남 9개 동 bbox 쿼리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26974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Way(도로) 필터링 → highway 태그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182112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40080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Node 좌표 추출 → lat/lon → 3D (x,z)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666744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0080" y="36667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Edge 연결 → 도로 그래프 JSON 구성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151376"/>
            <a:ext cx="356616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40080" y="41513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20">
                <a:solidFill>
                  <a:srgbClr val="FFFFFF"/>
                </a:solidFill>
                <a:latin typeface="Malgun Gothic"/>
              </a:rPr>
              <a:t>⑤ Three.js InstancedMesh / LineSegments 렌더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0" y="1508760"/>
            <a:ext cx="4206240" cy="3337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572000" y="1508760"/>
            <a:ext cx="42062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645920"/>
            <a:ext cx="475488" cy="4754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0368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시뮬레이션 구성요소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709160" y="2212848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4709160" y="2212848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4864608" y="22128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925312" y="22128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latin typeface="Malgun Gothic"/>
              </a:rPr>
              <a:t>강남 9개 동 3D 지도 + 조명 설정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09160" y="2697480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4709160" y="2697480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4864608" y="26974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925312" y="26974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엣지 → LineSegments 렌더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09160" y="3182112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4709160" y="3182112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4864608" y="3182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Taxi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925312" y="31821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BoxGeometry + 경로 애니메이션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709160" y="3666744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4709160" y="3666744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/>
          <p:nvPr/>
        </p:nvSpPr>
        <p:spPr>
          <a:xfrm>
            <a:off x="4864608" y="366674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925312" y="3666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히트맵 레이어 (수요 시각화)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709160" y="4151376"/>
            <a:ext cx="3840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8"/>
          <p:cNvSpPr/>
          <p:nvPr/>
        </p:nvSpPr>
        <p:spPr>
          <a:xfrm>
            <a:off x="4709160" y="4151376"/>
            <a:ext cx="73152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/>
          <p:nvPr/>
        </p:nvSpPr>
        <p:spPr>
          <a:xfrm>
            <a:off x="4864608" y="415137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925312" y="41513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OrbitControls — 마우스 회전/줌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환경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latin typeface="Malgun Gothic"/>
              </a:rPr>
              <a:t>Cloudflare Workers 배포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누구나 URL 하나로 바로 접속 — 설치 없이 브라우저에서 라이브 데모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1168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Push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브랜치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23160" y="25146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651760" y="1828800"/>
            <a:ext cx="1828800" cy="1828800"/>
          </a:xfrm>
          <a:prstGeom prst="rect">
            <a:avLst/>
          </a:prstGeom>
          <a:solidFill>
            <a:srgbClr val="F6821F"/>
          </a:solidFill>
          <a:ln w="12700">
            <a:solidFill>
              <a:srgbClr val="F6821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01168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latin typeface="Malgun Gothic"/>
              </a:rPr>
              <a:t>OpenNext 빌드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517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CI/CD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26280" y="25146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754880" y="1828800"/>
            <a:ext cx="1828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201168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500" b="1">
                <a:latin typeface="Malgun Gothic"/>
              </a:rPr>
              <a:t>Cloudflare 배포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Network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629400" y="25146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858000" y="1828800"/>
            <a:ext cx="1828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011680"/>
            <a:ext cx="685800" cy="6858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데모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58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공유만으로 OK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65760" y="3931920"/>
            <a:ext cx="73152" cy="6858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548640" y="39502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이점: 팀원 모두 동일한 환경에서 결과 확인  ·  발표 시 노트북 환경 세팅 불필요  ·  동료 평가자가 URL로 바로 코드·데모 접속  ·  자동 HTTPS · 무료 CDN 글로벌 서빙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3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4개 모듈 통합 아키텍처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20240" cy="3154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80" dirty="0" err="1">
                <a:solidFill>
                  <a:srgbClr val="AAAAAA"/>
                </a:solidFill>
                <a:latin typeface="Malgun Gothic"/>
              </a:rPr>
              <a:t>Three.js</a:t>
            </a:r>
            <a:r>
              <a:rPr sz="1080" dirty="0">
                <a:solidFill>
                  <a:srgbClr val="AAAAAA"/>
                </a:solidFill>
                <a:latin typeface="Malgun Gothic"/>
              </a:rPr>
              <a:t> · OSM </a:t>
            </a:r>
            <a:endParaRPr lang="en-US" sz="1080" dirty="0">
              <a:solidFill>
                <a:srgbClr val="AAAAAA"/>
              </a:solidFill>
              <a:latin typeface="Malgun Gothic"/>
            </a:endParaRPr>
          </a:p>
          <a:p>
            <a:pPr marL="0" indent="0" algn="ctr">
              <a:buNone/>
            </a:pPr>
            <a:r>
              <a:rPr sz="1080" dirty="0" err="1">
                <a:solidFill>
                  <a:srgbClr val="AAAAAA"/>
                </a:solidFill>
                <a:latin typeface="Malgun Gothic"/>
              </a:rPr>
              <a:t>강남</a:t>
            </a:r>
            <a:r>
              <a:rPr sz="1080" dirty="0">
                <a:solidFill>
                  <a:srgbClr val="AAAAAA"/>
                </a:solidFill>
                <a:latin typeface="Malgun Gothic"/>
              </a:rPr>
              <a:t> 9개 </a:t>
            </a:r>
            <a:r>
              <a:rPr sz="1080" dirty="0" err="1">
                <a:solidFill>
                  <a:srgbClr val="AAAAAA"/>
                </a:solidFill>
                <a:latin typeface="Malgun Gothic"/>
              </a:rPr>
              <a:t>동</a:t>
            </a:r>
            <a:r>
              <a:rPr sz="1080" dirty="0">
                <a:solidFill>
                  <a:srgbClr val="AAAAAA"/>
                </a:solidFill>
                <a:latin typeface="Malgun Gothic"/>
              </a:rPr>
              <a:t> 3D </a:t>
            </a:r>
            <a:r>
              <a:rPr sz="1080" dirty="0" err="1">
                <a:solidFill>
                  <a:srgbClr val="AAAAAA"/>
                </a:solidFill>
                <a:latin typeface="Malgun Gothic"/>
              </a:rPr>
              <a:t>환경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96312" y="1508760"/>
            <a:ext cx="1920240" cy="3154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496312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496312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96312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시공간 데이터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3472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496312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행정동 단위 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Feature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1920240" cy="3154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26864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26864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26864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50" b="1">
                <a:latin typeface="Malgun Gothic"/>
              </a:rPr>
              <a:t>이동 수요 proxy</a:t>
            </a:r>
            <a:endParaRPr lang="en-US" sz="1400" dirty="0"/>
          </a:p>
          <a:p>
            <a:pPr algn="ctr"/>
            <a:r>
              <a:rPr sz="1650" b="1">
                <a:latin typeface="Malgun Gothic"/>
              </a:rPr>
              <a:t>예측 모델</a:t>
            </a:r>
          </a:p>
        </p:txBody>
      </p:sp>
      <p:sp>
        <p:nvSpPr>
          <p:cNvPr id="25" name="Shape 23"/>
          <p:cNvSpPr/>
          <p:nvPr/>
        </p:nvSpPr>
        <p:spPr>
          <a:xfrm>
            <a:off x="4764024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626864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50" dirty="0" err="1">
                <a:latin typeface="Malgun Gothic"/>
              </a:rPr>
              <a:t>HistGradientBoosting</a:t>
            </a:r>
            <a:endParaRPr lang="en-US" sz="1100" dirty="0"/>
          </a:p>
          <a:p>
            <a:pPr algn="ctr"/>
            <a:r>
              <a:rPr sz="1150" dirty="0">
                <a:latin typeface="Malgun Gothic"/>
              </a:rPr>
              <a:t>MAE/RMSE/R² </a:t>
            </a:r>
            <a:r>
              <a:rPr sz="1150" dirty="0" err="1">
                <a:latin typeface="Malgun Gothic"/>
              </a:rPr>
              <a:t>평가</a:t>
            </a:r>
            <a:endParaRPr sz="1150" dirty="0">
              <a:latin typeface="Malgun Gothic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65392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57416" y="1508760"/>
            <a:ext cx="1920240" cy="3154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757416" y="1508760"/>
            <a:ext cx="1920240" cy="109728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757416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57416" y="23591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700" b="1">
                <a:latin typeface="Malgun Gothic"/>
              </a:rPr>
              <a:t>서비스 연결</a:t>
            </a:r>
            <a:endParaRPr lang="en-US" sz="1400" dirty="0"/>
          </a:p>
          <a:p>
            <a:pPr algn="ctr"/>
            <a:r>
              <a:rPr sz="1700" b="1">
                <a:latin typeface="Malgun Gothic"/>
              </a:rPr>
              <a:t>다음 단계</a:t>
            </a:r>
          </a:p>
        </p:txBody>
      </p:sp>
      <p:sp>
        <p:nvSpPr>
          <p:cNvPr id="32" name="Shape 30"/>
          <p:cNvSpPr/>
          <p:nvPr/>
        </p:nvSpPr>
        <p:spPr>
          <a:xfrm>
            <a:off x="6894576" y="3337560"/>
            <a:ext cx="1645920" cy="36576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757416" y="34564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30" dirty="0" err="1">
                <a:latin typeface="Malgun Gothic"/>
              </a:rPr>
              <a:t>지도</a:t>
            </a:r>
            <a:r>
              <a:rPr sz="1130" dirty="0">
                <a:latin typeface="Malgun Gothic"/>
              </a:rPr>
              <a:t> overlay</a:t>
            </a:r>
            <a:endParaRPr lang="en-US" sz="1100" dirty="0"/>
          </a:p>
          <a:p>
            <a:pPr algn="ctr"/>
            <a:r>
              <a:rPr sz="1130" dirty="0" err="1">
                <a:latin typeface="Malgun Gothic"/>
              </a:rPr>
              <a:t>실제</a:t>
            </a:r>
            <a:r>
              <a:rPr sz="1130" dirty="0">
                <a:latin typeface="Malgun Gothic"/>
              </a:rPr>
              <a:t> </a:t>
            </a:r>
            <a:r>
              <a:rPr sz="1130" dirty="0" err="1">
                <a:latin typeface="Malgun Gothic"/>
              </a:rPr>
              <a:t>호출</a:t>
            </a:r>
            <a:r>
              <a:rPr sz="1130" dirty="0">
                <a:latin typeface="Malgun Gothic"/>
              </a:rPr>
              <a:t> </a:t>
            </a:r>
            <a:r>
              <a:rPr sz="1130" dirty="0" err="1">
                <a:latin typeface="Malgun Gothic"/>
              </a:rPr>
              <a:t>데이터</a:t>
            </a:r>
            <a:r>
              <a:rPr sz="1130" dirty="0">
                <a:latin typeface="Malgun Gothic"/>
              </a:rPr>
              <a:t> </a:t>
            </a:r>
            <a:endParaRPr lang="en-US" sz="1130" dirty="0">
              <a:latin typeface="Malgun Gothic"/>
            </a:endParaRPr>
          </a:p>
          <a:p>
            <a:pPr algn="ctr"/>
            <a:r>
              <a:rPr sz="1130" dirty="0" err="1">
                <a:latin typeface="Malgun Gothic"/>
              </a:rPr>
              <a:t>확보</a:t>
            </a:r>
            <a:r>
              <a:rPr sz="1130" dirty="0">
                <a:latin typeface="Malgun Gothic"/>
              </a:rPr>
              <a:t> </a:t>
            </a:r>
            <a:r>
              <a:rPr sz="1130" dirty="0" err="1">
                <a:latin typeface="Malgun Gothic"/>
              </a:rPr>
              <a:t>시</a:t>
            </a:r>
            <a:r>
              <a:rPr sz="1130" dirty="0">
                <a:latin typeface="Malgun Gothic"/>
              </a:rPr>
              <a:t> </a:t>
            </a:r>
            <a:r>
              <a:rPr sz="1130" dirty="0" err="1">
                <a:latin typeface="Malgun Gothic"/>
              </a:rPr>
              <a:t>보정</a:t>
            </a:r>
            <a:endParaRPr sz="1130" dirty="0">
              <a:latin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52793"/>
            <a:ext cx="420624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altLang="ko-Kore-KR" sz="14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데모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실제 화면: 브라우저에서 보는 3D 택시 시뮬레이터</a:t>
            </a:r>
          </a:p>
        </p:txBody>
      </p:sp>
      <p:pic>
        <p:nvPicPr>
          <p:cNvPr id="7" name="Picture 6" descr="scenario-baselin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257800" cy="2957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89320" y="1417320"/>
            <a:ext cx="2697480" cy="3063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2697480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1700784"/>
            <a:ext cx="182880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algun Gothic"/>
              </a:rPr>
              <a:t>핵심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148840"/>
            <a:ext cx="2148840" cy="15087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>
                <a:latin typeface="Malgun Gothic"/>
              </a:rPr>
              <a:t>• OSM 도로·건물·행정동 시각화</a:t>
            </a:r>
          </a:p>
          <a:p>
            <a:pPr algn="l"/>
            <a:r>
              <a:rPr sz="1019">
                <a:latin typeface="Malgun Gothic"/>
              </a:rPr>
              <a:t>• 택시와 일반 교통 흐름 애니메이션</a:t>
            </a:r>
          </a:p>
          <a:p>
            <a:pPr algn="l"/>
            <a:r>
              <a:rPr sz="1019">
                <a:latin typeface="Malgun Gothic"/>
              </a:rPr>
              <a:t>• 날씨·시간·수요 시나리오 전환</a:t>
            </a:r>
          </a:p>
          <a:p>
            <a:pPr algn="l"/>
            <a:r>
              <a:rPr sz="1019">
                <a:latin typeface="Malgun Gothic"/>
              </a:rPr>
              <a:t>• 발표 자료 페이지와 바로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986784"/>
            <a:ext cx="2157984" cy="29260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050791"/>
            <a:ext cx="2011680" cy="16459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Three.js · Next.js · Cloudflare Workers</a:t>
            </a:r>
          </a:p>
        </p:txBody>
      </p:sp>
    </p:spTree>
    <p:extLst>
      <p:ext uri="{BB962C8B-B14F-4D97-AF65-F5344CB8AC3E}">
        <p14:creationId xmlns:p14="http://schemas.microsoft.com/office/powerpoint/2010/main" val="191481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/>
          </a:p>
        </p:txBody>
      </p:sp>
      <p:sp>
        <p:nvSpPr>
          <p:cNvPr id="3" name="HeaderLabel"/>
          <p:cNvSpPr/>
          <p:nvPr/>
        </p:nvSpPr>
        <p:spPr>
          <a:xfrm>
            <a:off x="182880" y="91440"/>
            <a:ext cx="3000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sz="1300" b="1">
                <a:solidFill>
                  <a:srgbClr val="FFCD00"/>
                </a:solidFill>
                <a:latin typeface="Malgun Gothic"/>
              </a:rPr>
              <a:t>역삼 택시  ·  Digital Twin</a:t>
            </a:r>
          </a:p>
        </p:txBody>
      </p:sp>
      <p:sp>
        <p:nvSpPr>
          <p:cNvPr id="4" name="SectionLabel"/>
          <p:cNvSpPr/>
          <p:nvPr/>
        </p:nvSpPr>
        <p:spPr>
          <a:xfrm>
            <a:off x="7000000" y="91440"/>
            <a:ext cx="2000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sz="1100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5" name="Title"/>
          <p:cNvSpPr/>
          <p:nvPr/>
        </p:nvSpPr>
        <p:spPr>
          <a:xfrm>
            <a:off x="182880" y="54864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왜 대중교통 proxy인가?</a:t>
            </a:r>
          </a:p>
        </p:txBody>
      </p:sp>
      <p:pic>
        <p:nvPicPr>
          <p:cNvPr id="6" name="nyc_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743200"/>
          </a:xfrm>
          <a:prstGeom prst="rect">
            <a:avLst/>
          </a:prstGeom>
        </p:spPr>
      </p:pic>
      <p:sp>
        <p:nvSpPr>
          <p:cNvPr id="7" name="Caption"/>
          <p:cNvSpPr/>
          <p:nvPr/>
        </p:nvSpPr>
        <p:spPr>
          <a:xfrm>
            <a:off x="182880" y="38404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1000" i="1">
                <a:solidFill>
                  <a:srgbClr val="888888"/>
                </a:solidFill>
                <a:latin typeface="Malgun Gothic"/>
              </a:rPr>
              <a:t>NYC Yellow Taxi 2025 — 실제 호출 수 vs 예측값</a:t>
            </a:r>
          </a:p>
        </p:txBody>
      </p:sp>
      <p:sp>
        <p:nvSpPr>
          <p:cNvPr id="8" name="ExplainBox"/>
          <p:cNvSpPr/>
          <p:nvPr/>
        </p:nvSpPr>
        <p:spPr>
          <a:xfrm>
            <a:off x="4754880" y="1097280"/>
            <a:ext cx="420624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274320" tIns="274320" rIns="274320" bIns="182880"/>
          <a:lstStyle/>
          <a:p>
            <a:r>
              <a:rPr sz="1400" b="1">
                <a:solidFill>
                  <a:srgbClr val="1A1A1A"/>
                </a:solidFill>
                <a:latin typeface="Malgun Gothic"/>
              </a:rPr>
              <a:t>미국 데이터로 검증, 한국은 우회</a:t>
            </a:r>
          </a:p>
        </p:txBody>
      </p:sp>
      <p:sp>
        <p:nvSpPr>
          <p:cNvPr id="9" name="Bullets"/>
          <p:cNvSpPr/>
          <p:nvPr/>
        </p:nvSpPr>
        <p:spPr>
          <a:xfrm>
            <a:off x="4937760" y="1554480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200">
                <a:solidFill>
                  <a:srgbClr val="333333"/>
                </a:solidFill>
                <a:latin typeface="Malgun Gothic"/>
              </a:rPr>
              <a:t>✔  NYC 실제 택시 데이터로 학습하면</a:t>
            </a:r>
          </a:p>
        </p:txBody>
      </p:sp>
      <p:sp>
        <p:nvSpPr>
          <p:cNvPr id="10" name="Bullets2"/>
          <p:cNvSpPr/>
          <p:nvPr/>
        </p:nvSpPr>
        <p:spPr>
          <a:xfrm>
            <a:off x="4937760" y="18288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0" bIns="0"/>
          <a:lstStyle/>
          <a:p>
            <a:r>
              <a:rPr sz="1100">
                <a:solidFill>
                  <a:srgbClr val="555555"/>
                </a:solidFill>
                <a:latin typeface="Malgun Gothic"/>
              </a:rPr>
              <a:t>    패턴 예측이 가능하다 (좌측 그래프)</a:t>
            </a:r>
          </a:p>
        </p:txBody>
      </p:sp>
      <p:sp>
        <p:nvSpPr>
          <p:cNvPr id="11" name="Bullets3"/>
          <p:cNvSpPr/>
          <p:nvPr/>
        </p:nvSpPr>
        <p:spPr>
          <a:xfrm>
            <a:off x="4937760" y="2194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200">
                <a:solidFill>
                  <a:srgbClr val="333333"/>
                </a:solidFill>
                <a:latin typeface="Malgun Gothic"/>
              </a:rPr>
              <a:t>✔  한국은 택시 호출 데이터 미공개</a:t>
            </a:r>
          </a:p>
        </p:txBody>
      </p:sp>
      <p:sp>
        <p:nvSpPr>
          <p:cNvPr id="12" name="Bullets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200">
                <a:solidFill>
                  <a:srgbClr val="333333"/>
                </a:solidFill>
                <a:latin typeface="Malgun Gothic"/>
              </a:rPr>
              <a:t>✔  도시 특성 달라 직접 적용 어려움</a:t>
            </a:r>
          </a:p>
        </p:txBody>
      </p:sp>
      <p:sp>
        <p:nvSpPr>
          <p:cNvPr id="13" name="Bullets5"/>
          <p:cNvSpPr/>
          <p:nvPr/>
        </p:nvSpPr>
        <p:spPr>
          <a:xfrm>
            <a:off x="4937760" y="29260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sz="1200">
                <a:solidFill>
                  <a:srgbClr val="333333"/>
                </a:solidFill>
                <a:latin typeface="Malgun Gothic"/>
              </a:rPr>
              <a:t>→  한국 대중교통 승차량으로 우회</a:t>
            </a:r>
          </a:p>
        </p:txBody>
      </p:sp>
      <p:sp>
        <p:nvSpPr>
          <p:cNvPr id="14" name="Bottom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wrap="square" lIns="182880" anchor="ctr"/>
          <a:lstStyle/>
          <a:p>
            <a:r>
              <a:rPr sz="1050" b="1">
                <a:solidFill>
                  <a:srgbClr val="1A1A1A"/>
                </a:solidFill>
                <a:latin typeface="Malgun Gothic"/>
              </a:rPr>
              <a:t>실제 호출 데이터 확보 시 → target만 교체하면 동일 파이프라인으로 한국 택시 수요 직접 예측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52793"/>
            <a:ext cx="420624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altLang="ko-Kore-KR" sz="14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데이터 수집: 생활인구 proxy → 대중교통 proxy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19072"/>
            <a:ext cx="8321040" cy="51206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92224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서울시 대중교통 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92224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 dirty="0">
                <a:solidFill>
                  <a:srgbClr val="5C5C5C"/>
                </a:solidFill>
                <a:latin typeface="Malgun Gothic"/>
              </a:rPr>
              <a:t>2024~2025 </a:t>
            </a:r>
            <a:r>
              <a:rPr sz="1000" b="0" dirty="0" err="1">
                <a:solidFill>
                  <a:srgbClr val="5C5C5C"/>
                </a:solidFill>
                <a:latin typeface="Malgun Gothic"/>
              </a:rPr>
              <a:t>행정동별</a:t>
            </a:r>
            <a:r>
              <a:rPr sz="10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C5C5C"/>
                </a:solidFill>
                <a:latin typeface="Malgun Gothic"/>
              </a:rPr>
              <a:t>시간대</a:t>
            </a:r>
            <a:r>
              <a:rPr sz="10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C5C5C"/>
                </a:solidFill>
                <a:latin typeface="Malgun Gothic"/>
              </a:rPr>
              <a:t>승차량</a:t>
            </a:r>
            <a:endParaRPr sz="1000" b="0" dirty="0">
              <a:solidFill>
                <a:srgbClr val="5C5C5C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80760" y="1792224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예측 target, lag feature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377439"/>
            <a:ext cx="832104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1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행정동 마스터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50591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행정동 코드와 이름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50591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강남 9개 동 필터링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035808"/>
            <a:ext cx="8321040" cy="51206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기상청 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108960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기온, 강수, 습도, 풍속, 적설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108960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날씨 feature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94176"/>
            <a:ext cx="832104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767328"/>
            <a:ext cx="201168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Malgun Gothic"/>
              </a:rPr>
              <a:t>특일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67328"/>
            <a:ext cx="283464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Malgun Gothic"/>
              </a:rPr>
              <a:t>공휴일, 공휴일 전날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767328"/>
            <a:ext cx="23317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Malgun Gothic"/>
              </a:rPr>
              <a:t>휴일 feature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526280"/>
            <a:ext cx="8321040" cy="329184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590288"/>
            <a:ext cx="7955279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처리 흐름  ·  시간 기준 정렬 → 강남 9개 동 필터링 → 날씨/휴일 join → lag feature 생성 → Colab 학습용 CSV export</a:t>
            </a:r>
          </a:p>
        </p:txBody>
      </p:sp>
    </p:spTree>
    <p:extLst>
      <p:ext uri="{BB962C8B-B14F-4D97-AF65-F5344CB8AC3E}">
        <p14:creationId xmlns:p14="http://schemas.microsoft.com/office/powerpoint/2010/main" val="322234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/>
          </a:p>
        </p:txBody>
      </p:sp>
      <p:sp>
        <p:nvSpPr>
          <p:cNvPr id="3" name="HdrL"/>
          <p:cNvSpPr/>
          <p:nvPr/>
        </p:nvSpPr>
        <p:spPr>
          <a:xfrm>
            <a:off x="182880" y="91440"/>
            <a:ext cx="3500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altLang="ko-Kore-KR" sz="13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300" dirty="0"/>
          </a:p>
        </p:txBody>
      </p:sp>
      <p:sp>
        <p:nvSpPr>
          <p:cNvPr id="4" name="HdrR"/>
          <p:cNvSpPr/>
          <p:nvPr/>
        </p:nvSpPr>
        <p:spPr>
          <a:xfrm>
            <a:off x="7000000" y="91440"/>
            <a:ext cx="2000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sz="1100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5" name="Title"/>
          <p:cNvSpPr/>
          <p:nvPr/>
        </p:nvSpPr>
        <p:spPr>
          <a:xfrm>
            <a:off x="182880" y="530000"/>
            <a:ext cx="877824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sz="2800" b="1">
                <a:solidFill>
                  <a:srgbClr val="1A1A1A"/>
                </a:solidFill>
                <a:latin typeface="Malgun Gothic"/>
              </a:rPr>
              <a:t>핵심 피처 근거 : NYC 데이터 분석</a:t>
            </a:r>
          </a:p>
        </p:txBody>
      </p:sp>
      <p:sp>
        <p:nvSpPr>
          <p:cNvPr id="6" name="LabelL"/>
          <p:cNvSpPr/>
          <p:nvPr/>
        </p:nvSpPr>
        <p:spPr>
          <a:xfrm>
            <a:off x="182880" y="1005840"/>
            <a:ext cx="4200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82880" anchor="ctr"/>
          <a:lstStyle/>
          <a:p>
            <a:r>
              <a:rPr sz="1300" b="1">
                <a:solidFill>
                  <a:srgbClr val="FFCD00"/>
                </a:solidFill>
                <a:latin typeface="Malgun Gothic"/>
              </a:rPr>
              <a:t>시간대 · 요일 패턴</a:t>
            </a:r>
          </a:p>
        </p:txBody>
      </p:sp>
      <p:pic>
        <p:nvPicPr>
          <p:cNvPr id="7" name="hourly_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4200000" cy="2377440"/>
          </a:xfrm>
          <a:prstGeom prst="rect">
            <a:avLst/>
          </a:prstGeom>
        </p:spPr>
      </p:pic>
      <p:sp>
        <p:nvSpPr>
          <p:cNvPr id="8" name="AnnL"/>
          <p:cNvSpPr/>
          <p:nvPr/>
        </p:nvSpPr>
        <p:spPr>
          <a:xfrm>
            <a:off x="182880" y="3700000"/>
            <a:ext cx="4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r>
              <a:rPr sz="1100">
                <a:solidFill>
                  <a:srgbClr val="555555"/>
                </a:solidFill>
                <a:latin typeface="Malgun Gothic"/>
              </a:rPr>
              <a:t>15~17시 최대 피크 · 새벽 4시 최저 → hour, weekday 피처</a:t>
            </a:r>
          </a:p>
        </p:txBody>
      </p:sp>
      <p:sp>
        <p:nvSpPr>
          <p:cNvPr id="9" name="LabelR"/>
          <p:cNvSpPr/>
          <p:nvPr/>
        </p:nvSpPr>
        <p:spPr>
          <a:xfrm>
            <a:off x="4761360" y="1005840"/>
            <a:ext cx="4200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82880" anchor="ctr"/>
          <a:lstStyle/>
          <a:p>
            <a:r>
              <a:rPr sz="1300" b="1">
                <a:solidFill>
                  <a:srgbClr val="FFCD00"/>
                </a:solidFill>
                <a:latin typeface="Malgun Gothic"/>
              </a:rPr>
              <a:t>날씨 패턴</a:t>
            </a:r>
          </a:p>
        </p:txBody>
      </p:sp>
      <p:pic>
        <p:nvPicPr>
          <p:cNvPr id="10" name="weather_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360" y="1280160"/>
            <a:ext cx="4200000" cy="2377440"/>
          </a:xfrm>
          <a:prstGeom prst="rect">
            <a:avLst/>
          </a:prstGeom>
        </p:spPr>
      </p:pic>
      <p:sp>
        <p:nvSpPr>
          <p:cNvPr id="11" name="AnnR"/>
          <p:cNvSpPr/>
          <p:nvPr/>
        </p:nvSpPr>
        <p:spPr>
          <a:xfrm>
            <a:off x="4761360" y="3700000"/>
            <a:ext cx="4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r>
              <a:rPr sz="1100">
                <a:solidFill>
                  <a:srgbClr val="555555"/>
                </a:solidFill>
                <a:latin typeface="Malgun Gothic"/>
              </a:rPr>
              <a:t>계절·강수 변화 확인 → temperature, precipitation, snow 피처</a:t>
            </a:r>
          </a:p>
        </p:txBody>
      </p:sp>
      <p:sp>
        <p:nvSpPr>
          <p:cNvPr id="12" name="Bottom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wrap="square" lIns="182880" anchor="ctr"/>
          <a:lstStyle/>
          <a:p>
            <a:r>
              <a:rPr sz="1050" b="1">
                <a:solidFill>
                  <a:srgbClr val="1A1A1A"/>
                </a:solidFill>
                <a:latin typeface="Malgun Gothic"/>
              </a:rPr>
              <a:t>NYC 분석 결과 → 시간대 · 요일 · 날씨가 핵심 피처 → 한국 모델에 동일하게 적용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52793"/>
            <a:ext cx="420624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altLang="ko-Kore-KR" sz="14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학습 데이터셋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학습 데이터셋과 예측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97465"/>
            <a:ext cx="8229600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200" b="0" dirty="0" err="1">
                <a:solidFill>
                  <a:srgbClr val="5C5C5C"/>
                </a:solidFill>
                <a:latin typeface="Malgun Gothic"/>
              </a:rPr>
              <a:t>택시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호출량이</a:t>
            </a:r>
            <a:r>
              <a:rPr lang="ko-KR" altLang="en-US" sz="1200" b="0" dirty="0">
                <a:solidFill>
                  <a:srgbClr val="5C5C5C"/>
                </a:solidFill>
                <a:latin typeface="Malgun Gothic"/>
              </a:rPr>
              <a:t> 없어</a:t>
            </a:r>
            <a:r>
              <a:rPr lang="en-US" altLang="ko-KR" sz="1200" b="0" dirty="0">
                <a:solidFill>
                  <a:srgbClr val="5C5C5C"/>
                </a:solidFill>
                <a:latin typeface="Malgun Gothic"/>
              </a:rPr>
              <a:t>,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대중교통</a:t>
            </a:r>
            <a:r>
              <a:rPr lang="en-US" altLang="ko-KR" sz="1200" b="0" dirty="0">
                <a:solidFill>
                  <a:srgbClr val="5C5C5C"/>
                </a:solidFill>
                <a:latin typeface="Malgun Gothic"/>
              </a:rPr>
              <a:t>(</a:t>
            </a:r>
            <a:r>
              <a:rPr lang="ko-KR" altLang="en-US" sz="1200" b="0" dirty="0">
                <a:solidFill>
                  <a:srgbClr val="5C5C5C"/>
                </a:solidFill>
                <a:latin typeface="Malgun Gothic"/>
              </a:rPr>
              <a:t>버스</a:t>
            </a:r>
            <a:r>
              <a:rPr lang="en-US" altLang="ko-KR" sz="1200" b="0" dirty="0">
                <a:solidFill>
                  <a:srgbClr val="5C5C5C"/>
                </a:solidFill>
                <a:latin typeface="Malgun Gothic"/>
              </a:rPr>
              <a:t>,</a:t>
            </a:r>
            <a:r>
              <a:rPr lang="ko-KR" altLang="en-US" sz="1200" b="0" dirty="0">
                <a:solidFill>
                  <a:srgbClr val="5C5C5C"/>
                </a:solidFill>
                <a:latin typeface="Malgun Gothic"/>
              </a:rPr>
              <a:t> 지하철</a:t>
            </a:r>
            <a:r>
              <a:rPr lang="en-US" altLang="ko-KR" sz="1200" b="0" dirty="0">
                <a:solidFill>
                  <a:srgbClr val="5C5C5C"/>
                </a:solidFill>
                <a:latin typeface="Malgun Gothic"/>
              </a:rPr>
              <a:t>)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승차량을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이동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수요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proxy로</a:t>
            </a:r>
            <a:r>
              <a:rPr sz="1200" b="0" dirty="0">
                <a:solidFill>
                  <a:srgbClr val="5C5C5C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5C5C5C"/>
                </a:solidFill>
                <a:latin typeface="Malgun Gothic"/>
              </a:rPr>
              <a:t>사용</a:t>
            </a:r>
            <a:endParaRPr sz="1200" b="0" dirty="0">
              <a:solidFill>
                <a:srgbClr val="5C5C5C"/>
              </a:solidFill>
              <a:latin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3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153,783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>
                <a:latin typeface="Malgun Gothic"/>
              </a:rPr>
              <a:t>모델 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775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8775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52344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712일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분석 날짜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3659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01183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9개 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예측 단위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5432" y="1627632"/>
            <a:ext cx="1874519" cy="1005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85432" y="1627632"/>
            <a:ext cx="1874519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1828800"/>
            <a:ext cx="155448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Malgun Gothic"/>
              </a:rPr>
              <a:t>1시간 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212848"/>
            <a:ext cx="1554480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50" b="0">
                <a:solidFill>
                  <a:srgbClr val="5C5C5C"/>
                </a:solidFill>
                <a:latin typeface="Malgun Gothic"/>
              </a:rPr>
              <a:t>예측 horizon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3063240"/>
            <a:ext cx="4023360" cy="129844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" y="3063240"/>
            <a:ext cx="402336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246120"/>
            <a:ext cx="146304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입력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47872"/>
            <a:ext cx="3383280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F2937"/>
                </a:solidFill>
                <a:latin typeface="Malgun Gothic"/>
              </a:rPr>
              <a:t>• 동, 시간, 요일, 주말 여부
• 현재/직전/전날/전주 같은 시간 수요
• 기온, 강수량, 적설, 습도, 풍속
• 공휴일, 공휴일 전날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73168" y="3063240"/>
            <a:ext cx="3840480" cy="129844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73168" y="3063240"/>
            <a:ext cx="384048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246120"/>
            <a:ext cx="109728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611880"/>
            <a:ext cx="283464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algun Gothic"/>
              </a:rPr>
              <a:t>각 시점에서 1시간 뒤
동별 대중교통 승차량</a:t>
            </a:r>
          </a:p>
        </p:txBody>
      </p:sp>
    </p:spTree>
    <p:extLst>
      <p:ext uri="{BB962C8B-B14F-4D97-AF65-F5344CB8AC3E}">
        <p14:creationId xmlns:p14="http://schemas.microsoft.com/office/powerpoint/2010/main" val="3307105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52793"/>
            <a:ext cx="420624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altLang="ko-Kore-KR" sz="14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모델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테스트 구간 실제값 vs 예측값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61872"/>
            <a:ext cx="822960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050">
                <a:solidFill>
                  <a:srgbClr val="4B5563"/>
                </a:solidFill>
                <a:latin typeface="Malgun Gothic"/>
              </a:rPr>
              <a:t>Test  MAE 165.7 / RMSE 393.7 / R² 0.985 · 평균 실제값 2,099명 대비 오차 약 166명</a:t>
            </a:r>
          </a:p>
        </p:txBody>
      </p:sp>
      <p:pic>
        <p:nvPicPr>
          <p:cNvPr id="8" name="Picture 7" descr="06_model_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4160520" cy="2548318"/>
          </a:xfrm>
          <a:prstGeom prst="rect">
            <a:avLst/>
          </a:prstGeom>
        </p:spPr>
      </p:pic>
      <p:pic>
        <p:nvPicPr>
          <p:cNvPr id="9" name="Picture 8" descr="07_actual_vs_predicte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572768"/>
            <a:ext cx="4160520" cy="254831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" y="4526280"/>
            <a:ext cx="8247888" cy="32918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610914"/>
            <a:ext cx="7909560" cy="1599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" sz="919" dirty="0">
                <a:solidFill>
                  <a:srgbClr val="1F2937"/>
                </a:solidFill>
                <a:latin typeface="Malgun Gothic"/>
              </a:rPr>
              <a:t>https://yeoksam-taxi.kenny31.workers.dev/presentation</a:t>
            </a:r>
            <a:endParaRPr sz="919" dirty="0">
              <a:solidFill>
                <a:srgbClr val="1F2937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68389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52793"/>
            <a:ext cx="420624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altLang="ko-Kore-KR" sz="14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서비스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26948"/>
            <a:ext cx="8229600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 dirty="0" err="1">
                <a:solidFill>
                  <a:srgbClr val="1A1A1A"/>
                </a:solidFill>
                <a:latin typeface="Malgun Gothic"/>
              </a:rPr>
              <a:t>목표</a:t>
            </a:r>
            <a:r>
              <a:rPr sz="24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1A1A1A"/>
                </a:solidFill>
                <a:latin typeface="Malgun Gothic"/>
              </a:rPr>
              <a:t>프로토타입</a:t>
            </a:r>
            <a:endParaRPr sz="2400" b="1" dirty="0">
              <a:solidFill>
                <a:srgbClr val="1A1A1A"/>
              </a:solidFill>
              <a:latin typeface="Malgun Gothic"/>
            </a:endParaRPr>
          </a:p>
        </p:txBody>
      </p:sp>
      <p:pic>
        <p:nvPicPr>
          <p:cNvPr id="7" name="Picture 6" descr="08_prediction_timeseries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7632"/>
            <a:ext cx="4389120" cy="26883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1627632"/>
            <a:ext cx="3611880" cy="2788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74920" y="1627632"/>
            <a:ext cx="3611880" cy="9144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21808" y="1841310"/>
            <a:ext cx="1554480" cy="2492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500" b="1" dirty="0" err="1">
                <a:solidFill>
                  <a:srgbClr val="1A1A1A"/>
                </a:solidFill>
                <a:latin typeface="Malgun Gothic"/>
              </a:rPr>
              <a:t>완료</a:t>
            </a:r>
            <a:r>
              <a:rPr lang="ko-KR" altLang="en-US" sz="1500" b="1" dirty="0">
                <a:solidFill>
                  <a:srgbClr val="1A1A1A"/>
                </a:solidFill>
                <a:latin typeface="Malgun Gothic"/>
              </a:rPr>
              <a:t> 사항 </a:t>
            </a:r>
            <a:endParaRPr sz="15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21808" y="2283187"/>
            <a:ext cx="2926080" cy="34477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1F2937"/>
                </a:solidFill>
                <a:latin typeface="Malgun Gothic"/>
              </a:rPr>
              <a:t>• /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presentation에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데이터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출처와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모델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결과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정리</a:t>
            </a:r>
          </a:p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1F2937"/>
                </a:solidFill>
                <a:latin typeface="Malgun Gothic"/>
              </a:rPr>
              <a:t>• Cloudflare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배포용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asset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가볍게</a:t>
            </a:r>
            <a:r>
              <a:rPr sz="1050" b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1F2937"/>
                </a:solidFill>
                <a:latin typeface="Malgun Gothic"/>
              </a:rPr>
              <a:t>유지</a:t>
            </a:r>
            <a:endParaRPr sz="1050" b="0" dirty="0">
              <a:solidFill>
                <a:srgbClr val="1F2937"/>
              </a:solidFill>
              <a:latin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21808" y="2928608"/>
            <a:ext cx="1554480" cy="274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150" b="1" dirty="0" err="1">
                <a:latin typeface="Malgun Gothic"/>
              </a:rPr>
              <a:t>목표</a:t>
            </a:r>
            <a:r>
              <a:rPr sz="1150" b="1" dirty="0">
                <a:latin typeface="Malgun Gothic"/>
              </a:rPr>
              <a:t> </a:t>
            </a:r>
            <a:r>
              <a:rPr sz="1150" b="1" dirty="0" err="1">
                <a:latin typeface="Malgun Gothic"/>
              </a:rPr>
              <a:t>프로토타입</a:t>
            </a:r>
            <a:endParaRPr sz="1150" b="1" dirty="0">
              <a:latin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21808" y="3052462"/>
            <a:ext cx="2926080" cy="82296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>
                <a:latin typeface="Malgun Gothic"/>
              </a:rPr>
              <a:t>• 동별 수요를 색상으로 표현한 히트맵</a:t>
            </a:r>
          </a:p>
          <a:p>
            <a:pPr algn="l"/>
            <a:r>
              <a:rPr sz="950">
                <a:latin typeface="Malgun Gothic"/>
              </a:rPr>
              <a:t>• 역삼1동·논현1동·대치4동 등 상위 수요 표시</a:t>
            </a:r>
          </a:p>
          <a:p>
            <a:pPr algn="l"/>
            <a:r>
              <a:rPr sz="950">
                <a:latin typeface="Malgun Gothic"/>
              </a:rPr>
              <a:t>• 요일·시간·날씨 조건 반영 예정</a:t>
            </a:r>
          </a:p>
          <a:p>
            <a:pPr algn="l"/>
            <a:r>
              <a:rPr sz="950">
                <a:latin typeface="Malgun Gothic"/>
              </a:rPr>
              <a:t>• 이걸 3D 지도 위에 올리는 게 다음 단계</a:t>
            </a:r>
          </a:p>
        </p:txBody>
      </p:sp>
      <p:pic>
        <p:nvPicPr>
          <p:cNvPr id="20" name="heat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959" y="34201"/>
            <a:ext cx="2292327" cy="152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52793"/>
            <a:ext cx="4206240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altLang="ko-Kore-KR" sz="14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109728"/>
            <a:ext cx="2560320" cy="3200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Malgun Gothic"/>
              </a:rPr>
              <a:t>한계와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68096"/>
            <a:ext cx="8229600" cy="4754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Malgun Gothic"/>
              </a:rPr>
              <a:t>한계와 다음 개선점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64208"/>
            <a:ext cx="2514600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25146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901952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1499616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06040"/>
            <a:ext cx="2011680" cy="1417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실제 택시 호출량 데이터가 아님
• 대중교통 수요 ≠ 택시 수요
• 이동 수요 proxy로 해석 필요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664208"/>
            <a:ext cx="2514600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664208"/>
            <a:ext cx="25146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11880" y="1901952"/>
            <a:ext cx="16459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938528"/>
            <a:ext cx="1499616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다음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606040"/>
            <a:ext cx="2011680" cy="1417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실제 호출 데이터 확보 시 보정
• 5분·15분 단위 예측으로 확장
• 지도 위 수요·신뢰도 함께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664208"/>
            <a:ext cx="2514600" cy="2971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1664208"/>
            <a:ext cx="25146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164592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938528"/>
            <a:ext cx="1499616" cy="3383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중간 결론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606040"/>
            <a:ext cx="2011680" cy="14173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Malgun Gothic"/>
              </a:rPr>
              <a:t>• 공개 데이터로 수요 신호 생성
• 수집→학습→서비스 흐름 확보
• 웹 기반 시연 환경까지 연결 완료</a:t>
            </a:r>
          </a:p>
        </p:txBody>
      </p:sp>
    </p:spTree>
    <p:extLst>
      <p:ext uri="{BB962C8B-B14F-4D97-AF65-F5344CB8AC3E}">
        <p14:creationId xmlns:p14="http://schemas.microsoft.com/office/powerpoint/2010/main" val="1890567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CD00"/>
          </a:solidFill>
          <a:ln w="12700">
            <a:solidFill>
              <a:srgbClr val="FFCD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9728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ore-KR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A-Eye</a:t>
            </a:r>
            <a:endParaRPr lang="en-US" altLang="ko-Kore-KR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5029200" cy="3657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github.com/kimcanal/yeoksam-taxi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218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yeoksam-taxi.kenny31.workers.dev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1048</Words>
  <Application>Microsoft Macintosh PowerPoint</Application>
  <PresentationFormat>화면 슬라이드 쇼(16:9)</PresentationFormat>
  <Paragraphs>221</Paragraphs>
  <Slides>16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Malgun Gothic</vt:lpstr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역삼 택시 Digital Twin</dc:title>
  <dc:subject>PptxGenJS Presentation</dc:subject>
  <dc:creator>PptxGenJS</dc:creator>
  <cp:lastModifiedBy>김윤하</cp:lastModifiedBy>
  <cp:revision>11</cp:revision>
  <dcterms:created xsi:type="dcterms:W3CDTF">2026-05-03T15:52:41Z</dcterms:created>
  <dcterms:modified xsi:type="dcterms:W3CDTF">2026-05-04T03:40:08Z</dcterms:modified>
</cp:coreProperties>
</file>