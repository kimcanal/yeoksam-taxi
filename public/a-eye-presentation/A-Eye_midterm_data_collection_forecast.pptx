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7" r:id="rId12"/>
    <p:sldId id="268" r:id="rId13"/>
    <p:sldId id="269" r:id="rId14"/>
    <p:sldId id="263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49074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560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5943600" y="640080"/>
            <a:ext cx="2743200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3657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kakao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74980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mobility  capstone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1371600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역삼동 택시</a:t>
            </a:r>
            <a:endParaRPr lang="en-US" sz="5000" dirty="0"/>
          </a:p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Digital Twin</a:t>
            </a:r>
            <a:endParaRPr lang="en-US" sz="5000" dirty="0"/>
          </a:p>
        </p:txBody>
      </p:sp>
      <p:sp>
        <p:nvSpPr>
          <p:cNvPr id="8" name="Text 5"/>
          <p:cNvSpPr/>
          <p:nvPr/>
        </p:nvSpPr>
        <p:spPr>
          <a:xfrm>
            <a:off x="548640" y="32918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수요 예측 및 동적 배차 시스템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48640" y="46634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Three.js  ·  OpenStreetMap  ·  Cloudflare Pages  ·  PyTorch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역삼 택시  ·  Digital Twin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목차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발표 순서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65760" y="1691640"/>
            <a:ext cx="3977640" cy="11887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691640"/>
            <a:ext cx="3977640" cy="9144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178308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30352" y="22860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개요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30352" y="258775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미션 목표 &amp; 팀 접근 방식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1691640"/>
            <a:ext cx="3977640" cy="118872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1691640"/>
            <a:ext cx="3977640" cy="9144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19472" y="178308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919472" y="22860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명세서 대비 변경 사항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19472" y="258775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우리가 다르게 구현한 이유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108960"/>
            <a:ext cx="3977640" cy="11887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3108960"/>
            <a:ext cx="3977640" cy="9144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0352" y="320040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530352" y="3703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스택 &amp; 구현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30352" y="40050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Three.js · OSM · Cloudflare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54880" y="3108960"/>
            <a:ext cx="3977640" cy="118872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54880" y="3108960"/>
            <a:ext cx="3977640" cy="9144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19472" y="320040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4919472" y="3703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모듈별 결과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919472" y="40050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시뮬레이션 · 예측 · 배차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역삼 택시  ·  Digital Twin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개요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무엇을 만들었나요?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365760" y="1554480"/>
            <a:ext cx="2606040" cy="310896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554480"/>
            <a:ext cx="2606040" cy="9144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16152" y="1737360"/>
            <a:ext cx="914400" cy="91440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24" y="1856232"/>
            <a:ext cx="676656" cy="6766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57200" y="27889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Digital Twin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57200" y="324612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역삼동 실제 도로망을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3D로 가상화한 환경에서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택시 수요·배차 시뮬레이션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182112" y="1554480"/>
            <a:ext cx="2606040" cy="310896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182112" y="1554480"/>
            <a:ext cx="2606040" cy="9144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32504" y="1737360"/>
            <a:ext cx="914400" cy="91440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1376" y="1856232"/>
            <a:ext cx="676656" cy="6766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273552" y="27889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수요 예측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3273552" y="324612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시공간 피처 기반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LSTM/ConvLSTM 모델로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30분 단위 호출 수 예측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998464" y="1554480"/>
            <a:ext cx="2606040" cy="310896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998464" y="1554480"/>
            <a:ext cx="2606040" cy="9144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848856" y="1737360"/>
            <a:ext cx="914400" cy="91440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7728" y="1856232"/>
            <a:ext cx="676656" cy="6766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089904" y="27889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동적 배차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6089904" y="324612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수급 불균형 지표 계산 후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Surge Pricing 인센티브로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 택시를 수요지로 유도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역삼 택시  ·  Digital Twin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변경 사항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명세서와 다르게 구현한 부분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더 현실적이고 의미 있는 결과를 위한 의도적 변경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828800"/>
            <a:ext cx="8412480" cy="621792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920240"/>
            <a:ext cx="1188720" cy="411480"/>
          </a:xfrm>
          <a:prstGeom prst="roundRect">
            <a:avLst>
              <a:gd name="adj" fmla="val 1777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92024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공간 범위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783080" y="1920240"/>
            <a:ext cx="2103120" cy="411480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83080" y="19202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3×3 블럭 추상 격자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931920" y="192024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343400" y="1920240"/>
            <a:ext cx="2103120" cy="411480"/>
          </a:xfrm>
          <a:prstGeom prst="rect">
            <a:avLst/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43400" y="19202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역삼동 실제 행정구역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92240" y="19202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카카오T 수요가 집중되는 지역을 반영, 의미 있는 예측 가능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2542032"/>
            <a:ext cx="8412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33472"/>
            <a:ext cx="1188720" cy="411480"/>
          </a:xfrm>
          <a:prstGeom prst="roundRect">
            <a:avLst>
              <a:gd name="adj" fmla="val 17778"/>
            </a:avLst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633472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지도 데이터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783080" y="2633472"/>
            <a:ext cx="2103120" cy="411480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783080" y="263347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추상 3D Map Asset 제공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931920" y="26334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343400" y="2633472"/>
            <a:ext cx="2103120" cy="411480"/>
          </a:xfrm>
          <a:prstGeom prst="rect">
            <a:avLst/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343400" y="263347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OSM 실제 도로 데이터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6334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OpenStreetMap에서 역삼동 노드/엣지 추출 → 실제 도로 위상 반영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3255264"/>
            <a:ext cx="8412480" cy="621792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" y="3346704"/>
            <a:ext cx="1188720" cy="411480"/>
          </a:xfrm>
          <a:prstGeom prst="roundRect">
            <a:avLst>
              <a:gd name="adj" fmla="val 17778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3346704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렌더링 엔진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783080" y="3346704"/>
            <a:ext cx="2103120" cy="411480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783080" y="3346704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SUMO / Carla 시뮬레이터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931920" y="3346704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43400" y="3346704"/>
            <a:ext cx="2103120" cy="411480"/>
          </a:xfrm>
          <a:prstGeom prst="rect">
            <a:avLst/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43400" y="3346704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Three.js 웹 기반 3D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92240" y="334670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별도 설치 없이 브라우저에서 바로 시연 가능, 발표·공유 용이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65760" y="3968496"/>
            <a:ext cx="8412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7200" y="4059936"/>
            <a:ext cx="1188720" cy="411480"/>
          </a:xfrm>
          <a:prstGeom prst="roundRect">
            <a:avLst>
              <a:gd name="adj" fmla="val 17778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405993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배포 환경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783080" y="4059936"/>
            <a:ext cx="2103120" cy="411480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783080" y="405993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로컬 실행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931920" y="4059936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4343400" y="4059936"/>
            <a:ext cx="2103120" cy="411480"/>
          </a:xfrm>
          <a:prstGeom prst="rect">
            <a:avLst/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43400" y="405993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Cloudflare Pages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492240" y="4059936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팀원·리뷰어 누구나 URL 하나로 즉시 접속 가능한 라이브 데모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역삼 택시  ·  Digital Twin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구현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Three.js + OpenStreetMap 구현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1508760"/>
            <a:ext cx="3931920" cy="33375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508760"/>
            <a:ext cx="3931920" cy="9144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4592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51560" y="17099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OSM 도로 데이터 파이프라인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2212848"/>
            <a:ext cx="3566160" cy="402336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2212848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CD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 Overpass API → 역삼동 bbox 쿼리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48640" y="2697480"/>
            <a:ext cx="3566160" cy="402336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2697480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② Way(도로) 필터링 → highway 태그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3182112"/>
            <a:ext cx="3566160" cy="402336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3182112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③ Node 좌표 추출 → lat/lon → 3D (x,z)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48640" y="3666744"/>
            <a:ext cx="3566160" cy="402336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" y="3666744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④ Edge 연결 → 그래프 구조 (NetworkX)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48640" y="4151376"/>
            <a:ext cx="3566160" cy="402336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0080" y="4151376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⑤ Three.js Line / TubeGeometry 렌더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0" y="1508760"/>
            <a:ext cx="4206240" cy="333756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572000" y="1508760"/>
            <a:ext cx="4206240" cy="914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1645920"/>
            <a:ext cx="475488" cy="475488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5230368" y="170992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Three.js 시뮬레이션 구성요소</a:t>
            </a:r>
            <a:endParaRPr lang="en-US" sz="1400" dirty="0"/>
          </a:p>
        </p:txBody>
      </p:sp>
      <p:sp>
        <p:nvSpPr>
          <p:cNvPr id="25" name="Shape 21"/>
          <p:cNvSpPr/>
          <p:nvPr/>
        </p:nvSpPr>
        <p:spPr>
          <a:xfrm>
            <a:off x="4709160" y="2212848"/>
            <a:ext cx="38404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709160" y="2212848"/>
            <a:ext cx="73152" cy="40233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4864608" y="2212848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Scene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5925312" y="2212848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역삼동 3D 지도 + 조명 설정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4709160" y="2697480"/>
            <a:ext cx="38404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709160" y="2697480"/>
            <a:ext cx="73152" cy="40233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4864608" y="269748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Road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5925312" y="2697480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OSM 엣지 → LineSegments 렌더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4709160" y="3182112"/>
            <a:ext cx="38404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4709160" y="3182112"/>
            <a:ext cx="73152" cy="40233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4864608" y="3182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Taxi</a:t>
            </a:r>
            <a:endParaRPr lang="en-US" sz="1100" dirty="0"/>
          </a:p>
        </p:txBody>
      </p:sp>
      <p:sp>
        <p:nvSpPr>
          <p:cNvPr id="36" name="Text 32"/>
          <p:cNvSpPr/>
          <p:nvPr/>
        </p:nvSpPr>
        <p:spPr>
          <a:xfrm>
            <a:off x="5925312" y="318211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BoxGeometry + 경로 애니메이션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4709160" y="3666744"/>
            <a:ext cx="38404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709160" y="3666744"/>
            <a:ext cx="73152" cy="40233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4864608" y="3666744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Demand</a:t>
            </a:r>
            <a:endParaRPr lang="en-US" sz="1100" dirty="0"/>
          </a:p>
        </p:txBody>
      </p:sp>
      <p:sp>
        <p:nvSpPr>
          <p:cNvPr id="40" name="Text 36"/>
          <p:cNvSpPr/>
          <p:nvPr/>
        </p:nvSpPr>
        <p:spPr>
          <a:xfrm>
            <a:off x="5925312" y="36667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히트맵 레이어 (수요 시각화)</a:t>
            </a:r>
            <a:endParaRPr lang="en-US" sz="1100" dirty="0"/>
          </a:p>
        </p:txBody>
      </p:sp>
      <p:sp>
        <p:nvSpPr>
          <p:cNvPr id="41" name="Shape 37"/>
          <p:cNvSpPr/>
          <p:nvPr/>
        </p:nvSpPr>
        <p:spPr>
          <a:xfrm>
            <a:off x="4709160" y="4151376"/>
            <a:ext cx="38404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4709160" y="4151376"/>
            <a:ext cx="73152" cy="40233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4864608" y="415137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Camera</a:t>
            </a:r>
            <a:endParaRPr lang="en-US" sz="1100" dirty="0"/>
          </a:p>
        </p:txBody>
      </p:sp>
      <p:sp>
        <p:nvSpPr>
          <p:cNvPr id="44" name="Text 40"/>
          <p:cNvSpPr/>
          <p:nvPr/>
        </p:nvSpPr>
        <p:spPr>
          <a:xfrm>
            <a:off x="5925312" y="415137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OrbitControls — 마우스 회전/줌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역삼 택시  ·  Digital Twin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배포 환경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Cloudflare Pages 배포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누구나 URL 하나로 바로 접속 — 설치 없이 브라우저에서 라이브 데모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1828800" cy="18288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" y="2011680"/>
            <a:ext cx="685800" cy="6858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8640" y="27889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Push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3200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브랜치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2423160" y="251460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2651760" y="1828800"/>
            <a:ext cx="1828800" cy="1828800"/>
          </a:xfrm>
          <a:prstGeom prst="rect">
            <a:avLst/>
          </a:prstGeom>
          <a:solidFill>
            <a:srgbClr val="F6821F"/>
          </a:solidFill>
          <a:ln w="12700">
            <a:solidFill>
              <a:srgbClr val="F6821F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7832" y="2011680"/>
            <a:ext cx="685800" cy="6858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651760" y="27889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 Pages 빌드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2651760" y="3200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CI/CD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526280" y="251460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4"/>
          <p:cNvSpPr/>
          <p:nvPr/>
        </p:nvSpPr>
        <p:spPr>
          <a:xfrm>
            <a:off x="4754880" y="1828800"/>
            <a:ext cx="1828800" cy="18288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0952" y="2011680"/>
            <a:ext cx="685800" cy="6858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754880" y="27889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CDN 글로벌 배포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4754880" y="3200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Network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6629400" y="251460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6858000" y="1828800"/>
            <a:ext cx="1828800" cy="18288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34072" y="2011680"/>
            <a:ext cx="685800" cy="68580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858000" y="27889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브라우저 데모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6858000" y="3200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 공유만으로 OK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365760" y="3931920"/>
            <a:ext cx="8412480" cy="6858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365760" y="3931920"/>
            <a:ext cx="73152" cy="68580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548640" y="3950208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배포 이점: 팀원 모두 동일한 환경에서 결과 확인  ·  발표 시 노트북 환경 세팅 불필요  ·  동료 평가자가 URL로 바로 코드·데모 접속  ·  자동 HTTPS · 무료 CDN 글로벌 서빙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역삼 택시  ·  Digital Twin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구조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4개 모듈 통합 아키텍처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1508760"/>
            <a:ext cx="1920240" cy="31546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508760"/>
            <a:ext cx="1920240" cy="109728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69164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65760" y="2359152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Twin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시뮬레이션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" y="3337560"/>
            <a:ext cx="1645920" cy="36576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3456432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Three.js · OSM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역삼동 3D 환경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304288" y="265176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496312" y="1508760"/>
            <a:ext cx="1920240" cy="315468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496312" y="1508760"/>
            <a:ext cx="1920240" cy="109728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96312" y="169164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M2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2496312" y="2359152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시공간 데이터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전처리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633472" y="3337560"/>
            <a:ext cx="1645920" cy="36576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96312" y="3456432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GPS→H3 격자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 Feature 생성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434840" y="265176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626864" y="1508760"/>
            <a:ext cx="1920240" cy="315468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26864" y="1508760"/>
            <a:ext cx="1920240" cy="109728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26864" y="169164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M3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4626864" y="2359152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수요 예측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764024" y="3337560"/>
            <a:ext cx="1645920" cy="36576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26864" y="3456432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ConvLSTM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RMSE/MAPE 평가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65392" y="265176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757416" y="1508760"/>
            <a:ext cx="1920240" cy="31546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757416" y="1508760"/>
            <a:ext cx="1920240" cy="109728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57416" y="169164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M4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757416" y="2359152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동적 배차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인센티브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894576" y="3337560"/>
            <a:ext cx="1645920" cy="36576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57416" y="3456432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Surge 알고리즘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배차 시뮬레이션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420624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역삼 택시  · 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</a:rPr>
              <a:t>프로젝트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68096"/>
            <a:ext cx="8229600" cy="47548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실제 화면: 브라우저에서 보는 3D 택시 시뮬레이터</a:t>
            </a:r>
          </a:p>
        </p:txBody>
      </p:sp>
      <p:pic>
        <p:nvPicPr>
          <p:cNvPr id="7" name="Picture 6" descr="scenario-baseline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17320"/>
            <a:ext cx="5257800" cy="295751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989320" y="1417320"/>
            <a:ext cx="2697480" cy="30632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989320" y="1417320"/>
            <a:ext cx="2697480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36208" y="1700784"/>
            <a:ext cx="1828800" cy="27432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algun Gothic"/>
              </a:rPr>
              <a:t>핵심 기능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2148840"/>
            <a:ext cx="2148840" cy="15087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2937"/>
                </a:solidFill>
                <a:latin typeface="Malgun Gothic"/>
              </a:rPr>
              <a:t>• OSM 기반 도로/건물/행정동 시각화
• 택시와 일반 교통 흐름 애니메이션
• 날씨·시간·수요 시나리오 전환
• 발표 자료 페이지와 바로 연결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3986784"/>
            <a:ext cx="2157984" cy="292608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09360" y="4050791"/>
            <a:ext cx="2011680" cy="16459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Malgun Gothic"/>
              </a:rPr>
              <a:t>Three.js · Next.js · Cloudflare Pages</a:t>
            </a:r>
          </a:p>
        </p:txBody>
      </p:sp>
    </p:spTree>
    <p:extLst>
      <p:ext uri="{BB962C8B-B14F-4D97-AF65-F5344CB8AC3E}">
        <p14:creationId xmlns:p14="http://schemas.microsoft.com/office/powerpoint/2010/main" val="19148161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420624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역삼 택시  · 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</a:rPr>
              <a:t>데이터 수집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68096"/>
            <a:ext cx="8229600" cy="47548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데이터 수집 개선: 생활인구 proxy에서 대중교통 proxy로 확장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719072"/>
            <a:ext cx="8321040" cy="512064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792224"/>
            <a:ext cx="201168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algun Gothic"/>
              </a:rPr>
              <a:t>서울시 대중교통 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1792224"/>
            <a:ext cx="283464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Malgun Gothic"/>
              </a:rPr>
              <a:t>2024~2025 행정동별 시간대 승차량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1792224"/>
            <a:ext cx="233172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  <a:latin typeface="Malgun Gothic"/>
              </a:rPr>
              <a:t>예측 target, lag feature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377439"/>
            <a:ext cx="8321040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2450591"/>
            <a:ext cx="201168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algun Gothic"/>
              </a:rPr>
              <a:t>행정동 마스터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450591"/>
            <a:ext cx="283464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Malgun Gothic"/>
              </a:rPr>
              <a:t>행정동 코드와 이름 매핑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450591"/>
            <a:ext cx="233172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  <a:latin typeface="Malgun Gothic"/>
              </a:rPr>
              <a:t>강남 9개 동 필터링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035808"/>
            <a:ext cx="8321040" cy="512064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3108960"/>
            <a:ext cx="201168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algun Gothic"/>
              </a:rPr>
              <a:t>기상청 ASOS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3108960"/>
            <a:ext cx="283464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Malgun Gothic"/>
              </a:rPr>
              <a:t>기온, 강수, 습도, 풍속, 적설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3108960"/>
            <a:ext cx="233172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  <a:latin typeface="Malgun Gothic"/>
              </a:rPr>
              <a:t>날씨 feature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694176"/>
            <a:ext cx="8321040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3767328"/>
            <a:ext cx="201168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algun Gothic"/>
              </a:rPr>
              <a:t>특일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3767328"/>
            <a:ext cx="283464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Malgun Gothic"/>
              </a:rPr>
              <a:t>공휴일, 공휴일 전날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3767328"/>
            <a:ext cx="233172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  <a:latin typeface="Malgun Gothic"/>
              </a:rPr>
              <a:t>휴일 feature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526280"/>
            <a:ext cx="8321040" cy="329184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94360" y="4590288"/>
            <a:ext cx="7955279" cy="20116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Malgun Gothic"/>
              </a:rPr>
              <a:t>처리 흐름  ·  시간 기준 정렬 → 강남 9개 동 필터링 → 날씨/휴일 join → lag feature 생성 → Colab 학습용 CSV export</a:t>
            </a:r>
          </a:p>
        </p:txBody>
      </p:sp>
    </p:spTree>
    <p:extLst>
      <p:ext uri="{BB962C8B-B14F-4D97-AF65-F5344CB8AC3E}">
        <p14:creationId xmlns:p14="http://schemas.microsoft.com/office/powerpoint/2010/main" val="32223426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420624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역삼 택시  · 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</a:rPr>
              <a:t>학습 데이터셋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68096"/>
            <a:ext cx="8229600" cy="47548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학습 데이터셋과 예측 대상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261872"/>
            <a:ext cx="8229600" cy="27432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Malgun Gothic"/>
              </a:rPr>
              <a:t>택시 호출량이 아니라 대중교통 승차량을 이동 수요 proxy로 사용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" y="1627632"/>
            <a:ext cx="1874519" cy="10058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8912" y="1627632"/>
            <a:ext cx="1874519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3503" y="1828800"/>
            <a:ext cx="1554480" cy="32918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2200" b="1">
                <a:solidFill>
                  <a:srgbClr val="1A1A1A"/>
                </a:solidFill>
                <a:latin typeface="Malgun Gothic"/>
              </a:rPr>
              <a:t>153,783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3" y="2212848"/>
            <a:ext cx="1554480" cy="20116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950" b="0">
                <a:solidFill>
                  <a:srgbClr val="5C5C5C"/>
                </a:solidFill>
                <a:latin typeface="Malgun Gothic"/>
              </a:rPr>
              <a:t>학습 row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2" y="1627632"/>
            <a:ext cx="1874519" cy="10058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587752" y="1627632"/>
            <a:ext cx="1874519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52344" y="1828800"/>
            <a:ext cx="1554480" cy="32918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2200" b="1">
                <a:solidFill>
                  <a:srgbClr val="1A1A1A"/>
                </a:solidFill>
                <a:latin typeface="Malgun Gothic"/>
              </a:rPr>
              <a:t>712일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52344" y="2212848"/>
            <a:ext cx="1554480" cy="20116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950" b="0">
                <a:solidFill>
                  <a:srgbClr val="5C5C5C"/>
                </a:solidFill>
                <a:latin typeface="Malgun Gothic"/>
              </a:rPr>
              <a:t>분석 날짜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6592" y="1627632"/>
            <a:ext cx="1874519" cy="10058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736592" y="1627632"/>
            <a:ext cx="1874519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901183" y="1828800"/>
            <a:ext cx="1554480" cy="32918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2200" b="1">
                <a:solidFill>
                  <a:srgbClr val="1A1A1A"/>
                </a:solidFill>
                <a:latin typeface="Malgun Gothic"/>
              </a:rPr>
              <a:t>9개 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01183" y="2212848"/>
            <a:ext cx="1554480" cy="20116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950" b="0">
                <a:solidFill>
                  <a:srgbClr val="5C5C5C"/>
                </a:solidFill>
                <a:latin typeface="Malgun Gothic"/>
              </a:rPr>
              <a:t>예측 단위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85432" y="1627632"/>
            <a:ext cx="1874519" cy="10058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85432" y="1627632"/>
            <a:ext cx="1874519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50024" y="1828800"/>
            <a:ext cx="1554480" cy="32918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2200" b="1">
                <a:solidFill>
                  <a:srgbClr val="1A1A1A"/>
                </a:solidFill>
                <a:latin typeface="Malgun Gothic"/>
              </a:rPr>
              <a:t>1시간 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0024" y="2212848"/>
            <a:ext cx="1554480" cy="20116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950" b="0">
                <a:solidFill>
                  <a:srgbClr val="5C5C5C"/>
                </a:solidFill>
                <a:latin typeface="Malgun Gothic"/>
              </a:rPr>
              <a:t>예측 horizon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" y="3063240"/>
            <a:ext cx="4023360" cy="1298448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38912" y="3063240"/>
            <a:ext cx="402336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3246120"/>
            <a:ext cx="1463040" cy="25603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algun Gothic"/>
              </a:rPr>
              <a:t>입력 feature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547872"/>
            <a:ext cx="3383280" cy="65836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1F2937"/>
                </a:solidFill>
                <a:latin typeface="Malgun Gothic"/>
              </a:rPr>
              <a:t>• 동, 시간, 요일, 주말 여부
• 현재/직전/전날/전주 같은 시간 수요
• 기온, 강수량, 적설, 습도, 풍속
• 공휴일, 공휴일 전날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73168" y="3063240"/>
            <a:ext cx="3840480" cy="1298448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773168" y="3063240"/>
            <a:ext cx="3840480" cy="9144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0" y="3246120"/>
            <a:ext cx="1097280" cy="25603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algun Gothic"/>
              </a:rPr>
              <a:t>Target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3611880"/>
            <a:ext cx="2834640" cy="43891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algun Gothic"/>
              </a:rPr>
              <a:t>각 시점에서 1시간 뒤
동별 대중교통 승차량</a:t>
            </a:r>
          </a:p>
        </p:txBody>
      </p:sp>
    </p:spTree>
    <p:extLst>
      <p:ext uri="{BB962C8B-B14F-4D97-AF65-F5344CB8AC3E}">
        <p14:creationId xmlns:p14="http://schemas.microsoft.com/office/powerpoint/2010/main" val="33071054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420624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역삼 택시  · 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</a:rPr>
              <a:t>모델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68096"/>
            <a:ext cx="8229600" cy="47548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테스트 구간 실제값 vs 예측값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261872"/>
            <a:ext cx="8229600" cy="27432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Malgun Gothic"/>
              </a:rPr>
              <a:t>각 시점의 1시간 뒤 대중교통 승차량을 실제값과 예측값으로 비교</a:t>
            </a:r>
          </a:p>
        </p:txBody>
      </p:sp>
      <p:pic>
        <p:nvPicPr>
          <p:cNvPr id="8" name="Picture 7" descr="06_model_metrics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72768"/>
            <a:ext cx="4160520" cy="2548318"/>
          </a:xfrm>
          <a:prstGeom prst="rect">
            <a:avLst/>
          </a:prstGeom>
        </p:spPr>
      </p:pic>
      <p:pic>
        <p:nvPicPr>
          <p:cNvPr id="9" name="Picture 8" descr="07_actual_vs_predicted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5152" y="1572768"/>
            <a:ext cx="4160520" cy="254831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38912" y="4526280"/>
            <a:ext cx="8247888" cy="329184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4590288"/>
            <a:ext cx="7909560" cy="20116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919" b="1">
                <a:solidFill>
                  <a:srgbClr val="1A1A1A"/>
                </a:solidFill>
                <a:latin typeface="Malgun Gothic"/>
              </a:rPr>
              <a:t>해석: x축은 실제 대중교통 승차량, y축은 예측 대중교통 승차량입니다. 점이 대각선에 가까울수록 실제값과 예측값이 가깝습니다.</a:t>
            </a:r>
          </a:p>
        </p:txBody>
      </p:sp>
    </p:spTree>
    <p:extLst>
      <p:ext uri="{BB962C8B-B14F-4D97-AF65-F5344CB8AC3E}">
        <p14:creationId xmlns:p14="http://schemas.microsoft.com/office/powerpoint/2010/main" val="11683890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420624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역삼 택시  · 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</a:rPr>
              <a:t>서비스 연결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68096"/>
            <a:ext cx="8229600" cy="47548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사이트에 붙인 결과와 다음 연결 방향</a:t>
            </a:r>
          </a:p>
        </p:txBody>
      </p:sp>
      <p:pic>
        <p:nvPicPr>
          <p:cNvPr id="7" name="Picture 6" descr="08_prediction_timeseries_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27632"/>
            <a:ext cx="4389120" cy="268833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74920" y="1627632"/>
            <a:ext cx="3611880" cy="27889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74920" y="1627632"/>
            <a:ext cx="3611880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21808" y="1828800"/>
            <a:ext cx="1554480" cy="27432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algun Gothic"/>
              </a:rPr>
              <a:t>현재 반영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21808" y="2212848"/>
            <a:ext cx="2926080" cy="10058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2937"/>
                </a:solidFill>
                <a:latin typeface="Malgun Gothic"/>
              </a:rPr>
              <a:t>• 메인 지도 상단에 발표 자료 버튼 추가
• /presentation에 데이터 출처와 모델 결과 정리
• PPT 다운로드 링크 연결
• Cloudflare 배포용 asset은 가볍게 유지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21808" y="3456432"/>
            <a:ext cx="1554480" cy="27432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500" b="1">
                <a:solidFill>
                  <a:srgbClr val="3B82F6"/>
                </a:solidFill>
                <a:latin typeface="Malgun Gothic"/>
              </a:rPr>
              <a:t>다음 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21808" y="3840480"/>
            <a:ext cx="2926080" cy="8229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2937"/>
                </a:solidFill>
                <a:latin typeface="Malgun Gothic"/>
              </a:rPr>
              <a:t>• 지도 위 동별 수요 색상/랭킹 overlay
• 실시간 citydata와 예측값을 함께 표시
• 실제 호출 데이터 확보 시 proxy 보정</a:t>
            </a:r>
          </a:p>
        </p:txBody>
      </p:sp>
    </p:spTree>
    <p:extLst>
      <p:ext uri="{BB962C8B-B14F-4D97-AF65-F5344CB8AC3E}">
        <p14:creationId xmlns:p14="http://schemas.microsoft.com/office/powerpoint/2010/main" val="3016959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420624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역삼 택시  · 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</a:rPr>
              <a:t>한계와 다음 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68096"/>
            <a:ext cx="8229600" cy="47548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한계와 다음 개선점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64208"/>
            <a:ext cx="2514600" cy="29718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664208"/>
            <a:ext cx="251460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22960" y="1901952"/>
            <a:ext cx="1645920" cy="41148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1938528"/>
            <a:ext cx="1499616" cy="3383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606040"/>
            <a:ext cx="2011680" cy="141732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2937"/>
                </a:solidFill>
                <a:latin typeface="Malgun Gothic"/>
              </a:rPr>
              <a:t>• 실제 택시 호출량 데이터가 아님
• 대중교통 수요와 택시 수요는 완전히 같지 않음
• 현재 결과는 이동 수요 proxy로 해석해야 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1664208"/>
            <a:ext cx="2514600" cy="29718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200400" y="1664208"/>
            <a:ext cx="2514600" cy="9144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611880" y="1901952"/>
            <a:ext cx="1645920" cy="41148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85032" y="1938528"/>
            <a:ext cx="1499616" cy="3383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다음 개선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6432" y="2606040"/>
            <a:ext cx="2011680" cy="141732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2937"/>
                </a:solidFill>
                <a:latin typeface="Malgun Gothic"/>
              </a:rPr>
              <a:t>• 실제 호출/승하차 데이터 확보 시 보정
• 5분·15분 단위 예측으로 확장
• 지도에서 수요와 신뢰도를 함께 표시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89320" y="1664208"/>
            <a:ext cx="2514600" cy="29718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989320" y="1664208"/>
            <a:ext cx="251460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1645920" cy="41148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73952" y="1938528"/>
            <a:ext cx="1499616" cy="3383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중간 결론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2606040"/>
            <a:ext cx="2011680" cy="141732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2937"/>
                </a:solidFill>
                <a:latin typeface="Malgun Gothic"/>
              </a:rPr>
              <a:t>• 공개 데이터만으로도 수요 신호를 만들 수 있음
• 수집→전처리→학습→서비스 연결 흐름 확보
• 웹 기반 시연 환경까지 연결 완료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645152"/>
            <a:ext cx="7955279" cy="20116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919" b="1">
                <a:solidFill>
                  <a:srgbClr val="1A1A1A"/>
                </a:solidFill>
                <a:latin typeface="Malgun Gothic"/>
              </a:rPr>
              <a:t>마무리: 완성된 택시 수요 모델이라기보다, 공개 데이터로 근미래 이동 수요 신호를 만들고 서비스에 연결할 수 있음을 검증한 단계입니다.</a:t>
            </a:r>
          </a:p>
        </p:txBody>
      </p:sp>
    </p:spTree>
    <p:extLst>
      <p:ext uri="{BB962C8B-B14F-4D97-AF65-F5344CB8AC3E}">
        <p14:creationId xmlns:p14="http://schemas.microsoft.com/office/powerpoint/2010/main" val="18905670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0"/>
            <a:ext cx="2743200" cy="514350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97280"/>
            <a:ext cx="2194560" cy="21945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9144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감사합니다</a:t>
            </a:r>
            <a:endParaRPr lang="en-US" sz="5200" dirty="0"/>
          </a:p>
        </p:txBody>
      </p:sp>
      <p:sp>
        <p:nvSpPr>
          <p:cNvPr id="5" name="Text 2"/>
          <p:cNvSpPr/>
          <p:nvPr/>
        </p:nvSpPr>
        <p:spPr>
          <a:xfrm>
            <a:off x="548640" y="20574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역삼동 · Digital Twin · 택시 수요 예측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651760"/>
            <a:ext cx="5029200" cy="36576"/>
          </a:xfrm>
          <a:prstGeom prst="rect">
            <a:avLst/>
          </a:prstGeom>
          <a:solidFill>
            <a:srgbClr val="5C5C5C"/>
          </a:solidFill>
          <a:ln w="12700">
            <a:solidFill>
              <a:srgbClr val="5C5C5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283464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🔗  github.com/kimcanal/yeoksam-taxi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32186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 (배포 URL)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38404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Q&amp;A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976</Words>
  <Application>Microsoft Office PowerPoint</Application>
  <PresentationFormat>화면 슬라이드 쇼(16:9)</PresentationFormat>
  <Paragraphs>195</Paragraphs>
  <Slides>14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9" baseType="lpstr">
      <vt:lpstr>Malgun Gothic</vt:lpstr>
      <vt:lpstr>Arial</vt:lpstr>
      <vt:lpstr>Arial Black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역삼 택시 Digital Twin</dc:title>
  <dc:subject>PptxGenJS Presentation</dc:subject>
  <dc:creator>PptxGenJS</dc:creator>
  <cp:lastModifiedBy>김윤하</cp:lastModifiedBy>
  <cp:revision>2</cp:revision>
  <dcterms:created xsi:type="dcterms:W3CDTF">2026-05-03T15:52:41Z</dcterms:created>
  <dcterms:modified xsi:type="dcterms:W3CDTF">2026-05-03T16:44:57Z</dcterms:modified>
</cp:coreProperties>
</file>