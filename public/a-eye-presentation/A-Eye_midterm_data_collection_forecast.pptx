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566928"/>
            <a:ext cx="1828800" cy="38404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2000" b="1">
                <a:solidFill>
                  <a:srgbClr val="2563EB"/>
                </a:solidFill>
                <a:latin typeface="Malgun Gothic"/>
              </a:rPr>
              <a:t>A-Eye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170432"/>
            <a:ext cx="7863840" cy="13258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3600" b="1">
                <a:solidFill>
                  <a:srgbClr val="18202D"/>
                </a:solidFill>
                <a:latin typeface="Malgun Gothic"/>
              </a:rPr>
              <a:t>공개 데이터로 만든
강남 근미래 이동 수요 예측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2852928"/>
            <a:ext cx="6583680" cy="36576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800" b="0">
                <a:solidFill>
                  <a:srgbClr val="525E70"/>
                </a:solidFill>
                <a:latin typeface="Malgun Gothic"/>
              </a:rPr>
              <a:t>데이터 수집 개선 과정과 Colab 학습 결과를 중심으로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92440" y="932688"/>
            <a:ext cx="333756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94192" y="1261872"/>
            <a:ext cx="219456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800" b="1">
                <a:solidFill>
                  <a:srgbClr val="18202D"/>
                </a:solidFill>
                <a:latin typeface="Malgun Gothic"/>
              </a:rPr>
              <a:t>오늘 말할 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94192" y="1783080"/>
            <a:ext cx="2514600" cy="224028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8202D"/>
                </a:solidFill>
                <a:latin typeface="Malgun Gothic"/>
              </a:defRPr>
            </a:pPr>
            <a:r>
              <a:t>택시 호출 데이터 부재를 어떻게 보완했는지</a:t>
            </a:r>
          </a:p>
          <a:p>
            <a:pPr>
              <a:spcAft>
                <a:spcPts val="800"/>
              </a:spcAft>
              <a:defRPr sz="1400">
                <a:solidFill>
                  <a:srgbClr val="18202D"/>
                </a:solidFill>
                <a:latin typeface="Malgun Gothic"/>
              </a:defRPr>
            </a:pPr>
            <a:r>
              <a:t>어떤 공개 데이터를 수집하고 결합했는지</a:t>
            </a:r>
          </a:p>
          <a:p>
            <a:pPr>
              <a:spcAft>
                <a:spcPts val="800"/>
              </a:spcAft>
              <a:defRPr sz="1400">
                <a:solidFill>
                  <a:srgbClr val="18202D"/>
                </a:solidFill>
                <a:latin typeface="Malgun Gothic"/>
              </a:defRPr>
            </a:pPr>
            <a:r>
              <a:t>대중교통 수요 proxy 모델이 무엇을 예측했는지</a:t>
            </a:r>
          </a:p>
          <a:p>
            <a:pPr>
              <a:spcAft>
                <a:spcPts val="800"/>
              </a:spcAft>
              <a:defRPr sz="1400">
                <a:solidFill>
                  <a:srgbClr val="18202D"/>
                </a:solidFill>
                <a:latin typeface="Malgun Gothic"/>
              </a:defRPr>
            </a:pPr>
            <a:r>
              <a:t>지도 서비스에 어떻게 연결할 수 있는지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0" y="4645152"/>
            <a:ext cx="2697480" cy="438912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E8F0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22208" y="4773168"/>
            <a:ext cx="2468880" cy="16459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/>
            <a:r>
              <a:rPr sz="1100" b="1">
                <a:solidFill>
                  <a:srgbClr val="2563EB"/>
                </a:solidFill>
                <a:latin typeface="Malgun Gothic"/>
              </a:rPr>
              <a:t>Test R2 0.9854 · MAE 약 166명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457200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525E70"/>
                </a:solidFill>
                <a:latin typeface="Malgun Gothic"/>
              </a:rPr>
              <a:t>공개 데이터 기반 근미래 이동 수요 예측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27432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200" b="1">
                <a:solidFill>
                  <a:srgbClr val="2563EB"/>
                </a:solidFill>
                <a:latin typeface="Malgun Gothic"/>
              </a:rPr>
              <a:t>A-Eye 중간발표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9875520" cy="60350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2900" b="1">
                <a:solidFill>
                  <a:srgbClr val="18202D"/>
                </a:solidFill>
                <a:latin typeface="Malgun Gothic"/>
              </a:rPr>
              <a:t>문제: 실제 택시 호출량은 아직 확보하기 어렵습니다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28800"/>
            <a:ext cx="11018520" cy="10972"/>
          </a:xfrm>
          <a:prstGeom prst="rect">
            <a:avLst/>
          </a:prstGeom>
          <a:solidFill>
            <a:srgbClr val="DA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2240280"/>
            <a:ext cx="3383280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2578608"/>
            <a:ext cx="21945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2000" b="1">
                <a:solidFill>
                  <a:srgbClr val="18202D"/>
                </a:solidFill>
                <a:latin typeface="Malgun Gothic"/>
              </a:rPr>
              <a:t>그래서 생긴 문제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3090672"/>
            <a:ext cx="2651760" cy="16459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8202D"/>
                </a:solidFill>
                <a:latin typeface="Malgun Gothic"/>
              </a:defRPr>
            </a:pPr>
            <a:r>
              <a:t>실제 호출량을 target으로 바로 학습하기 어려움</a:t>
            </a:r>
          </a:p>
          <a:p>
            <a:pPr>
              <a:spcAft>
                <a:spcPts val="800"/>
              </a:spcAft>
              <a:defRPr sz="1400">
                <a:solidFill>
                  <a:srgbClr val="18202D"/>
                </a:solidFill>
                <a:latin typeface="Malgun Gothic"/>
              </a:defRPr>
            </a:pPr>
            <a:r>
              <a:t>생활인구만으로는 시간대별 이동 흐름 설명이 부족함</a:t>
            </a:r>
          </a:p>
          <a:p>
            <a:pPr>
              <a:spcAft>
                <a:spcPts val="800"/>
              </a:spcAft>
              <a:defRPr sz="1400">
                <a:solidFill>
                  <a:srgbClr val="18202D"/>
                </a:solidFill>
                <a:latin typeface="Malgun Gothic"/>
              </a:defRPr>
            </a:pPr>
            <a:r>
              <a:t>지도에서 수요가 높은 이유를 설명할 근거가 필요함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62272" y="2240280"/>
            <a:ext cx="3383280" cy="320040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E8F0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0" y="2578608"/>
            <a:ext cx="21945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2000" b="1">
                <a:solidFill>
                  <a:srgbClr val="2563EB"/>
                </a:solidFill>
                <a:latin typeface="Malgun Gothic"/>
              </a:rPr>
              <a:t>이번 접근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3090672"/>
            <a:ext cx="2651760" cy="16459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8202D"/>
                </a:solidFill>
                <a:latin typeface="Malgun Gothic"/>
              </a:defRPr>
            </a:pPr>
            <a:r>
              <a:t>공개적으로 관측 가능한 대중교통 승차량 사용</a:t>
            </a:r>
          </a:p>
          <a:p>
            <a:pPr>
              <a:spcAft>
                <a:spcPts val="800"/>
              </a:spcAft>
              <a:defRPr sz="1400">
                <a:solidFill>
                  <a:srgbClr val="18202D"/>
                </a:solidFill>
                <a:latin typeface="Malgun Gothic"/>
              </a:defRPr>
            </a:pPr>
            <a:r>
              <a:t>이 값을 이동 수요의 proxy로 둠</a:t>
            </a:r>
          </a:p>
          <a:p>
            <a:pPr>
              <a:spcAft>
                <a:spcPts val="800"/>
              </a:spcAft>
              <a:defRPr sz="1400">
                <a:solidFill>
                  <a:srgbClr val="18202D"/>
                </a:solidFill>
                <a:latin typeface="Malgun Gothic"/>
              </a:defRPr>
            </a:pPr>
            <a:r>
              <a:t>다음 1시간의 동별 수요 방향을 예측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83879" y="2240280"/>
            <a:ext cx="3063240" cy="3200400"/>
          </a:xfrm>
          <a:prstGeom prst="roundRect">
            <a:avLst/>
          </a:prstGeom>
          <a:solidFill>
            <a:srgbClr val="FFF6E6"/>
          </a:solidFill>
          <a:ln w="12700">
            <a:solidFill>
              <a:srgbClr val="FFF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58200" y="2578608"/>
            <a:ext cx="219456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2000" b="1">
                <a:solidFill>
                  <a:srgbClr val="B45309"/>
                </a:solidFill>
                <a:latin typeface="Malgun Gothic"/>
              </a:rPr>
              <a:t>발표에서 주의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3154680"/>
            <a:ext cx="2377440" cy="10972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600" b="1">
                <a:solidFill>
                  <a:srgbClr val="18202D"/>
                </a:solidFill>
                <a:latin typeface="Malgun Gothic"/>
              </a:rPr>
              <a:t>이 모델은 택시 호출량을 직접 맞힌 모델이 아니라,
공개 데이터로 만든 이동 수요 신호입니다.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73952"/>
            <a:ext cx="457200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525E70"/>
                </a:solidFill>
                <a:latin typeface="Malgun Gothic"/>
              </a:rPr>
              <a:t>공개 데이터 기반 근미래 이동 수요 예측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27432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200" b="1">
                <a:solidFill>
                  <a:srgbClr val="2563EB"/>
                </a:solidFill>
                <a:latin typeface="Malgun Gothic"/>
              </a:rPr>
              <a:t>A-Eye 중간발표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9875520" cy="60350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2900" b="1">
                <a:solidFill>
                  <a:srgbClr val="18202D"/>
                </a:solidFill>
                <a:latin typeface="Malgun Gothic"/>
              </a:rPr>
              <a:t>데이터 수집 개선: 수요, 날씨, 휴일을 시간 단위로 결합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28800"/>
            <a:ext cx="11018520" cy="10972"/>
          </a:xfrm>
          <a:prstGeom prst="rect">
            <a:avLst/>
          </a:prstGeom>
          <a:solidFill>
            <a:srgbClr val="DA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49808" y="2176272"/>
            <a:ext cx="10744200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2331720"/>
            <a:ext cx="233172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400" b="1">
                <a:solidFill>
                  <a:srgbClr val="18202D"/>
                </a:solidFill>
                <a:latin typeface="Malgun Gothic"/>
              </a:rPr>
              <a:t>서울시 대중교통 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2331720"/>
            <a:ext cx="297180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300" b="0">
                <a:solidFill>
                  <a:srgbClr val="525E70"/>
                </a:solidFill>
                <a:latin typeface="Malgun Gothic"/>
              </a:rPr>
              <a:t>행정동별 시간대 승차량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60920" y="2331720"/>
            <a:ext cx="297180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300" b="1">
                <a:solidFill>
                  <a:srgbClr val="2563EB"/>
                </a:solidFill>
                <a:latin typeface="Malgun Gothic"/>
              </a:rPr>
              <a:t>예측 target, lag feature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2999232"/>
            <a:ext cx="10744200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3154679"/>
            <a:ext cx="233172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400" b="1">
                <a:solidFill>
                  <a:srgbClr val="18202D"/>
                </a:solidFill>
                <a:latin typeface="Malgun Gothic"/>
              </a:rPr>
              <a:t>행정동 마스터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3154679"/>
            <a:ext cx="297180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300" b="0">
                <a:solidFill>
                  <a:srgbClr val="525E70"/>
                </a:solidFill>
                <a:latin typeface="Malgun Gothic"/>
              </a:rPr>
              <a:t>행정동 코드/이름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60920" y="3154679"/>
            <a:ext cx="297180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300" b="1">
                <a:solidFill>
                  <a:srgbClr val="2563EB"/>
                </a:solidFill>
                <a:latin typeface="Malgun Gothic"/>
              </a:rPr>
              <a:t>강남 9개 동 필터링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8" y="3822191"/>
            <a:ext cx="10744200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8" y="3977639"/>
            <a:ext cx="233172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400" b="1">
                <a:solidFill>
                  <a:srgbClr val="18202D"/>
                </a:solidFill>
                <a:latin typeface="Malgun Gothic"/>
              </a:rPr>
              <a:t>기상청 ASOS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3977639"/>
            <a:ext cx="297180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300" b="0">
                <a:solidFill>
                  <a:srgbClr val="525E70"/>
                </a:solidFill>
                <a:latin typeface="Malgun Gothic"/>
              </a:rPr>
              <a:t>기온, 강수, 습도, 풍속, 적설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0920" y="3977639"/>
            <a:ext cx="297180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300" b="1">
                <a:solidFill>
                  <a:srgbClr val="2563EB"/>
                </a:solidFill>
                <a:latin typeface="Malgun Gothic"/>
              </a:rPr>
              <a:t>날씨 feature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4645152"/>
            <a:ext cx="10744200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" y="4800600"/>
            <a:ext cx="233172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400" b="1">
                <a:solidFill>
                  <a:srgbClr val="18202D"/>
                </a:solidFill>
                <a:latin typeface="Malgun Gothic"/>
              </a:rPr>
              <a:t>특일 정보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4800600"/>
            <a:ext cx="297180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300" b="0">
                <a:solidFill>
                  <a:srgbClr val="525E70"/>
                </a:solidFill>
                <a:latin typeface="Malgun Gothic"/>
              </a:rPr>
              <a:t>공휴일, 공휴일 전날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60920" y="4800600"/>
            <a:ext cx="2971800" cy="219456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300" b="1">
                <a:solidFill>
                  <a:srgbClr val="2563EB"/>
                </a:solidFill>
                <a:latin typeface="Malgun Gothic"/>
              </a:rPr>
              <a:t>휴일 feature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9808" y="5577840"/>
            <a:ext cx="10744200" cy="566928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E8F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42432"/>
            <a:ext cx="109728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300" b="1">
                <a:solidFill>
                  <a:srgbClr val="14805F"/>
                </a:solidFill>
                <a:latin typeface="Malgun Gothic"/>
              </a:rPr>
              <a:t>처리 흐름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5724144"/>
            <a:ext cx="859536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300" b="0">
                <a:solidFill>
                  <a:srgbClr val="18202D"/>
                </a:solidFill>
                <a:latin typeface="Malgun Gothic"/>
              </a:rPr>
              <a:t>시간 기준 정렬 → 강남 9개 동 필터링 → 날씨/휴일 결합 → lag feature 생성 → Colab 학습용 CSV export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73952"/>
            <a:ext cx="457200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525E70"/>
                </a:solidFill>
                <a:latin typeface="Malgun Gothic"/>
              </a:rPr>
              <a:t>공개 데이터 기반 근미래 이동 수요 예측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27432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200" b="1">
                <a:solidFill>
                  <a:srgbClr val="2563EB"/>
                </a:solidFill>
                <a:latin typeface="Malgun Gothic"/>
              </a:rPr>
              <a:t>A-Eye 중간발표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9875520" cy="60350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2900" b="1">
                <a:solidFill>
                  <a:srgbClr val="18202D"/>
                </a:solidFill>
                <a:latin typeface="Malgun Gothic"/>
              </a:rPr>
              <a:t>학습 데이터셋: 2024~2025년 강남 9개 동 시간대 데이터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28800"/>
            <a:ext cx="11018520" cy="10972"/>
          </a:xfrm>
          <a:prstGeom prst="rect">
            <a:avLst/>
          </a:prstGeom>
          <a:solidFill>
            <a:srgbClr val="DA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49808" y="2148840"/>
            <a:ext cx="233172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264" y="2395728"/>
            <a:ext cx="1828800" cy="3474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18202D"/>
                </a:solidFill>
                <a:latin typeface="Malgun Gothic"/>
              </a:rPr>
              <a:t>153,783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" y="2871216"/>
            <a:ext cx="182880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200" b="0">
                <a:solidFill>
                  <a:srgbClr val="525E70"/>
                </a:solidFill>
                <a:latin typeface="Malgun Gothic"/>
              </a:rPr>
              <a:t>학습 가능 row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0439" y="2148840"/>
            <a:ext cx="233172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39896" y="2395728"/>
            <a:ext cx="1828800" cy="3474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18202D"/>
                </a:solidFill>
                <a:latin typeface="Malgun Gothic"/>
              </a:rPr>
              <a:t>712일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39896" y="2871216"/>
            <a:ext cx="182880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200" b="0">
                <a:solidFill>
                  <a:srgbClr val="525E70"/>
                </a:solidFill>
                <a:latin typeface="Malgun Gothic"/>
              </a:rPr>
              <a:t>분석 날짜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2148840"/>
            <a:ext cx="233172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0528" y="2395728"/>
            <a:ext cx="1828800" cy="3474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18202D"/>
                </a:solidFill>
                <a:latin typeface="Malgun Gothic"/>
              </a:rPr>
              <a:t>9개 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0528" y="2871216"/>
            <a:ext cx="182880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200" b="0">
                <a:solidFill>
                  <a:srgbClr val="525E70"/>
                </a:solidFill>
                <a:latin typeface="Malgun Gothic"/>
              </a:rPr>
              <a:t>예측 단위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61704" y="2148840"/>
            <a:ext cx="233172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81160" y="2395728"/>
            <a:ext cx="1828800" cy="34747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2500" b="1">
                <a:solidFill>
                  <a:srgbClr val="18202D"/>
                </a:solidFill>
                <a:latin typeface="Malgun Gothic"/>
              </a:rPr>
              <a:t>1시간 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81160" y="2871216"/>
            <a:ext cx="182880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200" b="0">
                <a:solidFill>
                  <a:srgbClr val="525E70"/>
                </a:solidFill>
                <a:latin typeface="Malgun Gothic"/>
              </a:rPr>
              <a:t>예측 horizon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3977639"/>
            <a:ext cx="51663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" y="4224528"/>
            <a:ext cx="182880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800" b="1">
                <a:solidFill>
                  <a:srgbClr val="18202D"/>
                </a:solidFill>
                <a:latin typeface="Malgun Gothic"/>
              </a:rPr>
              <a:t>입력 feature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4590288"/>
            <a:ext cx="4206240" cy="65836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18202D"/>
                </a:solidFill>
                <a:latin typeface="Malgun Gothic"/>
              </a:defRPr>
            </a:pPr>
            <a:r>
              <a:t>동, 시간, 요일, 주말 여부</a:t>
            </a:r>
          </a:p>
          <a:p>
            <a:pPr>
              <a:spcAft>
                <a:spcPts val="800"/>
              </a:spcAft>
              <a:defRPr sz="1200">
                <a:solidFill>
                  <a:srgbClr val="18202D"/>
                </a:solidFill>
                <a:latin typeface="Malgun Gothic"/>
              </a:defRPr>
            </a:pPr>
            <a:r>
              <a:t>현재/직전/전날/전주 같은 시간 수요</a:t>
            </a:r>
          </a:p>
          <a:p>
            <a:pPr>
              <a:spcAft>
                <a:spcPts val="800"/>
              </a:spcAft>
              <a:defRPr sz="1200">
                <a:solidFill>
                  <a:srgbClr val="18202D"/>
                </a:solidFill>
                <a:latin typeface="Malgun Gothic"/>
              </a:defRPr>
            </a:pPr>
            <a:r>
              <a:t>기온, 강수량, 적설, 습도, 풍속</a:t>
            </a:r>
          </a:p>
          <a:p>
            <a:pPr>
              <a:spcAft>
                <a:spcPts val="800"/>
              </a:spcAft>
              <a:defRPr sz="1200">
                <a:solidFill>
                  <a:srgbClr val="18202D"/>
                </a:solidFill>
                <a:latin typeface="Malgun Gothic"/>
              </a:defRPr>
            </a:pPr>
            <a:r>
              <a:t>공휴일, 공휴일 전날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977639"/>
            <a:ext cx="4800600" cy="141732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E8F0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60" y="4224528"/>
            <a:ext cx="109728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800" b="1">
                <a:solidFill>
                  <a:srgbClr val="2563EB"/>
                </a:solidFill>
                <a:latin typeface="Malgun Gothic"/>
              </a:rPr>
              <a:t>Target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4617720"/>
            <a:ext cx="3474720" cy="53035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700" b="1">
                <a:solidFill>
                  <a:srgbClr val="18202D"/>
                </a:solidFill>
                <a:latin typeface="Malgun Gothic"/>
              </a:rPr>
              <a:t>각 시점에서 1시간 뒤
동별 대중교통 승차량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73952"/>
            <a:ext cx="457200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525E70"/>
                </a:solidFill>
                <a:latin typeface="Malgun Gothic"/>
              </a:rPr>
              <a:t>공개 데이터 기반 근미래 이동 수요 예측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27432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200" b="1">
                <a:solidFill>
                  <a:srgbClr val="2563EB"/>
                </a:solidFill>
                <a:latin typeface="Malgun Gothic"/>
              </a:rPr>
              <a:t>A-Eye 중간발표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9875520" cy="60350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2900" b="1">
                <a:solidFill>
                  <a:srgbClr val="18202D"/>
                </a:solidFill>
                <a:latin typeface="Malgun Gothic"/>
              </a:rPr>
              <a:t>모델 검증: 실제 승차량과 예측 승차량을 비교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28800"/>
            <a:ext cx="11018520" cy="10972"/>
          </a:xfrm>
          <a:prstGeom prst="rect">
            <a:avLst/>
          </a:prstGeom>
          <a:solidFill>
            <a:srgbClr val="DA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6_model_metrics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38528"/>
            <a:ext cx="5349240" cy="3276410"/>
          </a:xfrm>
          <a:prstGeom prst="rect">
            <a:avLst/>
          </a:prstGeom>
        </p:spPr>
      </p:pic>
      <p:pic>
        <p:nvPicPr>
          <p:cNvPr id="6" name="Picture 5" descr="07_actual_vs_predicted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938528"/>
            <a:ext cx="5349240" cy="327641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9808" y="5788152"/>
            <a:ext cx="10469880" cy="4389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5907024"/>
            <a:ext cx="685800" cy="16459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100" b="1">
                <a:solidFill>
                  <a:srgbClr val="2563EB"/>
                </a:solidFill>
                <a:latin typeface="Malgun Gothic"/>
              </a:rPr>
              <a:t>해석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7632" y="5888736"/>
            <a:ext cx="905256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200" b="0">
                <a:solidFill>
                  <a:srgbClr val="18202D"/>
                </a:solidFill>
                <a:latin typeface="Malgun Gothic"/>
              </a:rPr>
              <a:t>각 점은 특정 동의 특정 시간대입니다. x축은 실제 대중교통 승차량, y축은 예측 대중교통 승차량입니다.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457200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525E70"/>
                </a:solidFill>
                <a:latin typeface="Malgun Gothic"/>
              </a:rPr>
              <a:t>공개 데이터 기반 근미래 이동 수요 예측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27432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200" b="1">
                <a:solidFill>
                  <a:srgbClr val="2563EB"/>
                </a:solidFill>
                <a:latin typeface="Malgun Gothic"/>
              </a:rPr>
              <a:t>A-Eye 중간발표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9875520" cy="60350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2900" b="1">
                <a:solidFill>
                  <a:srgbClr val="18202D"/>
                </a:solidFill>
                <a:latin typeface="Malgun Gothic"/>
              </a:rPr>
              <a:t>예측 흐름과 서비스 연결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28800"/>
            <a:ext cx="11018520" cy="10972"/>
          </a:xfrm>
          <a:prstGeom prst="rect">
            <a:avLst/>
          </a:prstGeom>
          <a:solidFill>
            <a:srgbClr val="DA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8_prediction_timeseries_s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938528"/>
            <a:ext cx="6172200" cy="378047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086600" y="2057400"/>
            <a:ext cx="4160520" cy="2971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88352" y="2395728"/>
            <a:ext cx="2377440" cy="29260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2000" b="1">
                <a:solidFill>
                  <a:srgbClr val="18202D"/>
                </a:solidFill>
                <a:latin typeface="Malgun Gothic"/>
              </a:rPr>
              <a:t>지도에 붙이는 방향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88352" y="2926080"/>
            <a:ext cx="3154680" cy="132588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8202D"/>
                </a:solidFill>
                <a:latin typeface="Malgun Gothic"/>
              </a:defRPr>
            </a:pPr>
            <a:r>
              <a:t>행정동별 수요를 색상/랭킹으로 표시</a:t>
            </a:r>
          </a:p>
          <a:p>
            <a:pPr>
              <a:spcAft>
                <a:spcPts val="800"/>
              </a:spcAft>
              <a:defRPr sz="1400">
                <a:solidFill>
                  <a:srgbClr val="18202D"/>
                </a:solidFill>
                <a:latin typeface="Malgun Gothic"/>
              </a:defRPr>
            </a:pPr>
            <a:r>
              <a:t>실시간 citydata와 예측 결과를 함께 보여줌</a:t>
            </a:r>
          </a:p>
          <a:p>
            <a:pPr>
              <a:spcAft>
                <a:spcPts val="800"/>
              </a:spcAft>
              <a:defRPr sz="1400">
                <a:solidFill>
                  <a:srgbClr val="18202D"/>
                </a:solidFill>
                <a:latin typeface="Malgun Gothic"/>
              </a:defRPr>
            </a:pPr>
            <a:r>
              <a:t>수요가 커질 가능성이 높은 지역을 먼저 확인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88352" y="4736592"/>
            <a:ext cx="3108960" cy="41148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200" b="0">
                <a:solidFill>
                  <a:srgbClr val="525E70"/>
                </a:solidFill>
                <a:latin typeface="Malgun Gothic"/>
              </a:rPr>
              <a:t>현재 사이트에는 /presentation 결과 페이지와 PPT 다운로드 버튼을 연결했습니다.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457200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525E70"/>
                </a:solidFill>
                <a:latin typeface="Malgun Gothic"/>
              </a:rPr>
              <a:t>공개 데이터 기반 근미래 이동 수요 예측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2743200" cy="256032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200" b="1">
                <a:solidFill>
                  <a:srgbClr val="2563EB"/>
                </a:solidFill>
                <a:latin typeface="Malgun Gothic"/>
              </a:rPr>
              <a:t>A-Eye 중간발표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9875520" cy="60350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2900" b="1">
                <a:solidFill>
                  <a:srgbClr val="18202D"/>
                </a:solidFill>
                <a:latin typeface="Malgun Gothic"/>
              </a:rPr>
              <a:t>한계와 다음 단계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28800"/>
            <a:ext cx="11018520" cy="10972"/>
          </a:xfrm>
          <a:prstGeom prst="rect">
            <a:avLst/>
          </a:prstGeom>
          <a:solidFill>
            <a:srgbClr val="DAE2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13232" y="2240280"/>
            <a:ext cx="32004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264" y="2578608"/>
            <a:ext cx="219456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2000" b="1">
                <a:solidFill>
                  <a:srgbClr val="18202D"/>
                </a:solidFill>
                <a:latin typeface="Malgun Gothic"/>
              </a:rPr>
              <a:t>한계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" y="3063240"/>
            <a:ext cx="2560320" cy="173736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8202D"/>
                </a:solidFill>
                <a:latin typeface="Malgun Gothic"/>
              </a:defRPr>
            </a:pPr>
            <a:r>
              <a:t>실제 택시 호출량 데이터가 아님</a:t>
            </a:r>
          </a:p>
          <a:p>
            <a:pPr>
              <a:spcAft>
                <a:spcPts val="800"/>
              </a:spcAft>
              <a:defRPr sz="1300">
                <a:solidFill>
                  <a:srgbClr val="18202D"/>
                </a:solidFill>
                <a:latin typeface="Malgun Gothic"/>
              </a:defRPr>
            </a:pPr>
            <a:r>
              <a:t>대중교통 수요와 택시 수요는 완전히 같지 않음</a:t>
            </a:r>
          </a:p>
          <a:p>
            <a:pPr>
              <a:spcAft>
                <a:spcPts val="800"/>
              </a:spcAft>
              <a:defRPr sz="1300">
                <a:solidFill>
                  <a:srgbClr val="18202D"/>
                </a:solidFill>
                <a:latin typeface="Malgun Gothic"/>
              </a:defRPr>
            </a:pPr>
            <a:r>
              <a:t>날씨 영향은 요일/시간대보다 약하게 나타남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6552" y="2240280"/>
            <a:ext cx="320040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72584" y="2578608"/>
            <a:ext cx="219456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2000" b="1">
                <a:solidFill>
                  <a:srgbClr val="18202D"/>
                </a:solidFill>
                <a:latin typeface="Malgun Gothic"/>
              </a:rPr>
              <a:t>다음 개선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72584" y="3063240"/>
            <a:ext cx="2560320" cy="173736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8202D"/>
                </a:solidFill>
                <a:latin typeface="Malgun Gothic"/>
              </a:defRPr>
            </a:pPr>
            <a:r>
              <a:t>실제 호출/승하차 데이터 확보 시 보정</a:t>
            </a:r>
          </a:p>
          <a:p>
            <a:pPr>
              <a:spcAft>
                <a:spcPts val="800"/>
              </a:spcAft>
              <a:defRPr sz="1300">
                <a:solidFill>
                  <a:srgbClr val="18202D"/>
                </a:solidFill>
                <a:latin typeface="Malgun Gothic"/>
              </a:defRPr>
            </a:pPr>
            <a:r>
              <a:t>5분·15분 단위 예측으로 확장</a:t>
            </a:r>
          </a:p>
          <a:p>
            <a:pPr>
              <a:spcAft>
                <a:spcPts val="800"/>
              </a:spcAft>
              <a:defRPr sz="1300">
                <a:solidFill>
                  <a:srgbClr val="18202D"/>
                </a:solidFill>
                <a:latin typeface="Malgun Gothic"/>
              </a:defRPr>
            </a:pPr>
            <a:r>
              <a:t>지도에서 예측값과 신뢰도를 함께 표시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19871" y="2240280"/>
            <a:ext cx="3200400" cy="324612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E8F0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75903" y="2578608"/>
            <a:ext cx="219456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2000" b="1">
                <a:solidFill>
                  <a:srgbClr val="2563EB"/>
                </a:solidFill>
                <a:latin typeface="Malgun Gothic"/>
              </a:rPr>
              <a:t>중간 결론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75903" y="3063240"/>
            <a:ext cx="2560320" cy="173736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8202D"/>
                </a:solidFill>
                <a:latin typeface="Malgun Gothic"/>
              </a:defRPr>
            </a:pPr>
            <a:r>
              <a:t>공개 데이터만으로도 수요 신호를 만들 수 있음</a:t>
            </a:r>
          </a:p>
          <a:p>
            <a:pPr>
              <a:spcAft>
                <a:spcPts val="800"/>
              </a:spcAft>
              <a:defRPr sz="1300">
                <a:solidFill>
                  <a:srgbClr val="18202D"/>
                </a:solidFill>
                <a:latin typeface="Malgun Gothic"/>
              </a:defRPr>
            </a:pPr>
            <a:r>
              <a:t>수집→전처리→학습→서비스 연결 흐름을 확보</a:t>
            </a:r>
          </a:p>
          <a:p>
            <a:pPr>
              <a:spcAft>
                <a:spcPts val="800"/>
              </a:spcAft>
              <a:defRPr sz="1300">
                <a:solidFill>
                  <a:srgbClr val="18202D"/>
                </a:solidFill>
                <a:latin typeface="Malgun Gothic"/>
              </a:defRPr>
            </a:pPr>
            <a:r>
              <a:t>A-Eye 지도에 붙일 기반을 만들었음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6016752"/>
            <a:ext cx="146304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200" b="1">
                <a:solidFill>
                  <a:srgbClr val="14805F"/>
                </a:solidFill>
                <a:latin typeface="Malgun Gothic"/>
              </a:rPr>
              <a:t>마무리 문장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5989320"/>
            <a:ext cx="8686800" cy="237744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300" b="0">
                <a:solidFill>
                  <a:srgbClr val="18202D"/>
                </a:solidFill>
                <a:latin typeface="Malgun Gothic"/>
              </a:rPr>
              <a:t>이번 결과는 완성된 택시 수요 모델이 아니라, 공개 데이터로 근미래 이동 수요 신호를 만들 수 있음을 검증한 단계입니다.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73952"/>
            <a:ext cx="4572000" cy="20116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900" b="0">
                <a:solidFill>
                  <a:srgbClr val="525E70"/>
                </a:solidFill>
                <a:latin typeface="Malgun Gothic"/>
              </a:rPr>
              <a:t>공개 데이터 기반 근미래 이동 수요 예측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