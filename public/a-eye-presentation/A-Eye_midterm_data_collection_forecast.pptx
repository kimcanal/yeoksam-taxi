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30352"/>
            <a:ext cx="182880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Malgun Gothic"/>
              </a:rPr>
              <a:t>A-Eye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7863840" cy="1417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800" b="1">
                <a:solidFill>
                  <a:srgbClr val="1F2937"/>
                </a:solidFill>
                <a:latin typeface="Malgun Gothic"/>
              </a:rPr>
              <a:t>데이터 수집 개선과
근미래 이동 수요 예측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852928"/>
            <a:ext cx="7132320" cy="777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700" b="0">
                <a:solidFill>
                  <a:srgbClr val="5A6577"/>
                </a:solidFill>
                <a:latin typeface="Malgun Gothic"/>
              </a:rPr>
              <a:t>중간발표용 정리
공개 데이터로 강남 9개 동의 다음 1시간 이동 수요를 추정한 과정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0" y="777240"/>
            <a:ext cx="324612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22208" y="1115568"/>
            <a:ext cx="2560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700" b="1">
                <a:solidFill>
                  <a:srgbClr val="1F2937"/>
                </a:solidFill>
                <a:latin typeface="Malgun Gothic"/>
              </a:rPr>
              <a:t>오늘 발표의 핵심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22208" y="1664208"/>
            <a:ext cx="2514600" cy="237744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Malgun Gothic"/>
              </a:defRPr>
            </a:pPr>
            <a:r>
              <a:t>택시 호출 데이터 부재를 공개 데이터 proxy로 보완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Malgun Gothic"/>
              </a:defRPr>
            </a:pPr>
            <a:r>
              <a:t>2024~2025년 대중교통 + 날씨 + 휴일 결합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Malgun Gothic"/>
              </a:defRPr>
            </a:pPr>
            <a:r>
              <a:t>다음 1시간 강남 9개 동 수요 예측 모델 학습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Malgun Gothic"/>
              </a:defRPr>
            </a:pPr>
            <a:r>
              <a:t>지도 서비스에 붙일 수 있는 결과 페이지까지 구성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49640" y="4617720"/>
            <a:ext cx="1417320" cy="347472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8F0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68512" y="4709160"/>
            <a:ext cx="1143000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Malgun Gothic"/>
              </a:rPr>
              <a:t>R2 0.9854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40112" y="4617720"/>
            <a:ext cx="1234440" cy="34747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E8F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31552" y="4709160"/>
            <a:ext cx="960120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000" b="1">
                <a:solidFill>
                  <a:srgbClr val="16805F"/>
                </a:solidFill>
                <a:latin typeface="Malgun Gothic"/>
              </a:rPr>
              <a:t>MAE 166명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502920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5A6577"/>
                </a:solidFill>
                <a:latin typeface="Malgun Gothic"/>
              </a:rPr>
              <a:t>공개 데이터 기반 근미래 이동 수요 예측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2743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Malgun Gothic"/>
              </a:rPr>
              <a:t>A-Eye 중간발표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9875520" cy="6217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>
                <a:solidFill>
                  <a:srgbClr val="1F2937"/>
                </a:solidFill>
                <a:latin typeface="Malgun Gothic"/>
              </a:rPr>
              <a:t>문제 정의: 택시 호출 데이터가 없을 때 어떻게 수요를 볼 것인가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10512"/>
            <a:ext cx="11155680" cy="10972"/>
          </a:xfrm>
          <a:prstGeom prst="rect">
            <a:avLst/>
          </a:prstGeom>
          <a:solidFill>
            <a:srgbClr val="D8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2148840"/>
            <a:ext cx="324612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487168"/>
            <a:ext cx="2286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Malgun Gothic"/>
              </a:rPr>
              <a:t>기존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971800"/>
            <a:ext cx="2560320" cy="20574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Malgun Gothic"/>
              </a:defRPr>
            </a:pPr>
            <a:r>
              <a:t>실제 택시 호출량은 공개 데이터로 확보하기 어려움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Malgun Gothic"/>
              </a:defRPr>
            </a:pPr>
            <a:r>
              <a:t>생활인구 proxy만으로는 이동 흐름 설명이 부족함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Malgun Gothic"/>
              </a:defRPr>
            </a:pPr>
            <a:r>
              <a:t>발표/서비스에서 수요 근거가 필요함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2148840"/>
            <a:ext cx="324612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90872" y="2487168"/>
            <a:ext cx="2286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Malgun Gothic"/>
              </a:rPr>
              <a:t>이번 개선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0872" y="2971800"/>
            <a:ext cx="2560320" cy="20574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Malgun Gothic"/>
              </a:defRPr>
            </a:pPr>
            <a:r>
              <a:t>관측 가능한 대중교통 승차량을 이동 수요 proxy로 사용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Malgun Gothic"/>
              </a:defRPr>
            </a:pPr>
            <a:r>
              <a:t>요일, 시간, 휴일, 날씨, 과거 수요를 함께 반영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Malgun Gothic"/>
              </a:defRPr>
            </a:pPr>
            <a:r>
              <a:t>다음 1시간 수요를 동 단위로 예측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148840"/>
            <a:ext cx="3246120" cy="342900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8F0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85632" y="2487168"/>
            <a:ext cx="2286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Malgun Gothic"/>
              </a:rPr>
              <a:t>정확한 표현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85632" y="2971800"/>
            <a:ext cx="2560320" cy="20574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Malgun Gothic"/>
              </a:defRPr>
            </a:pPr>
            <a:r>
              <a:t>택시 수요를 직접 맞힌 모델이 아님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Malgun Gothic"/>
              </a:defRPr>
            </a:pPr>
            <a:r>
              <a:t>공개 데이터로 만든 근미래 이동 수요 신호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Malgun Gothic"/>
              </a:defRPr>
            </a:pPr>
            <a:r>
              <a:t>지도에서 우선순위를 보는 근거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46520"/>
            <a:ext cx="502920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5A6577"/>
                </a:solidFill>
                <a:latin typeface="Malgun Gothic"/>
              </a:rPr>
              <a:t>공개 데이터 기반 근미래 이동 수요 예측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2743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Malgun Gothic"/>
              </a:rPr>
              <a:t>A-Eye 중간발표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9875520" cy="6217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>
                <a:solidFill>
                  <a:srgbClr val="1F2937"/>
                </a:solidFill>
                <a:latin typeface="Malgun Gothic"/>
              </a:rPr>
              <a:t>개선점: proxy를 넓히고, 시간 축을 늘렸습니다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10512"/>
            <a:ext cx="11155680" cy="10972"/>
          </a:xfrm>
          <a:prstGeom prst="rect">
            <a:avLst/>
          </a:prstGeom>
          <a:solidFill>
            <a:srgbClr val="D8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2148840"/>
            <a:ext cx="2423160" cy="2971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2450592"/>
            <a:ext cx="731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Malgun Gothic"/>
              </a:rPr>
              <a:t>1차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834640"/>
            <a:ext cx="196596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900" b="1">
                <a:solidFill>
                  <a:srgbClr val="1F2937"/>
                </a:solidFill>
                <a:latin typeface="Malgun Gothic"/>
              </a:rPr>
              <a:t>생활인구 기반 proxy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3657600"/>
            <a:ext cx="1920240" cy="10515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>
                <a:solidFill>
                  <a:srgbClr val="5A6577"/>
                </a:solidFill>
                <a:latin typeface="Malgun Gothic"/>
              </a:rPr>
              <a:t>행정동별 유동인구와 주변 신호로 상대 수요 점수 구성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2148840"/>
            <a:ext cx="2423160" cy="2971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21608" y="2450592"/>
            <a:ext cx="731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Malgun Gothic"/>
              </a:rPr>
              <a:t>2차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21608" y="2834640"/>
            <a:ext cx="196596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900" b="1">
                <a:solidFill>
                  <a:srgbClr val="1F2937"/>
                </a:solidFill>
                <a:latin typeface="Malgun Gothic"/>
              </a:rPr>
              <a:t>대중교통 수요 proxy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21608" y="3657600"/>
            <a:ext cx="1920240" cy="10515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>
                <a:solidFill>
                  <a:srgbClr val="5A6577"/>
                </a:solidFill>
                <a:latin typeface="Malgun Gothic"/>
              </a:rPr>
              <a:t>버스/지하철 승차량을 실제 관측 가능한 이동 수요로 사용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2148840"/>
            <a:ext cx="2423160" cy="2971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6248" y="2450592"/>
            <a:ext cx="731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Malgun Gothic"/>
              </a:rPr>
              <a:t>3차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2834640"/>
            <a:ext cx="196596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900" b="1">
                <a:solidFill>
                  <a:srgbClr val="1F2937"/>
                </a:solidFill>
                <a:latin typeface="Malgun Gothic"/>
              </a:rPr>
              <a:t>날씨·휴일 결합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3657600"/>
            <a:ext cx="1920240" cy="10515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>
                <a:solidFill>
                  <a:srgbClr val="5A6577"/>
                </a:solidFill>
                <a:latin typeface="Malgun Gothic"/>
              </a:rPr>
              <a:t>기상청 ASOS, 공휴일, 공휴일 전날 feature를 시간 단위로 결합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9720" y="2148840"/>
            <a:ext cx="2423160" cy="2971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90888" y="2450592"/>
            <a:ext cx="731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Malgun Gothic"/>
              </a:rPr>
              <a:t>4차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90888" y="2834640"/>
            <a:ext cx="196596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900" b="1">
                <a:solidFill>
                  <a:srgbClr val="1F2937"/>
                </a:solidFill>
                <a:latin typeface="Malgun Gothic"/>
              </a:rPr>
              <a:t>2024~2025년 확장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0888" y="3657600"/>
            <a:ext cx="1920240" cy="10515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>
                <a:solidFill>
                  <a:srgbClr val="5A6577"/>
                </a:solidFill>
                <a:latin typeface="Malgun Gothic"/>
              </a:rPr>
              <a:t>짧은 기간 실험에서 2년치 학습 데이터로 확장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650992"/>
            <a:ext cx="1060704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1">
                <a:solidFill>
                  <a:srgbClr val="1F2937"/>
                </a:solidFill>
                <a:latin typeface="Malgun Gothic"/>
              </a:rPr>
              <a:t>질문을 “어느 동이 지금 붐비는가”에서 “다음 1시간에 어느 동의 이동 수요가 커질 수 있는가”로 바꿨습니다.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502920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5A6577"/>
                </a:solidFill>
                <a:latin typeface="Malgun Gothic"/>
              </a:rPr>
              <a:t>공개 데이터 기반 근미래 이동 수요 예측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2743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Malgun Gothic"/>
              </a:rPr>
              <a:t>A-Eye 중간발표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9875520" cy="6217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>
                <a:solidFill>
                  <a:srgbClr val="1F2937"/>
                </a:solidFill>
                <a:latin typeface="Malgun Gothic"/>
              </a:rPr>
              <a:t>데이터 수집: 공개 API와 파일 데이터를 시간 단위로 맞췄습니다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10512"/>
            <a:ext cx="11155680" cy="10972"/>
          </a:xfrm>
          <a:prstGeom prst="rect">
            <a:avLst/>
          </a:prstGeom>
          <a:solidFill>
            <a:srgbClr val="D8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2057400"/>
            <a:ext cx="107899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21992"/>
            <a:ext cx="228600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  <a:latin typeface="Malgun Gothic"/>
              </a:rPr>
              <a:t>서울시 대중교통 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2221992"/>
            <a:ext cx="310896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>
                <a:solidFill>
                  <a:srgbClr val="5A6577"/>
                </a:solidFill>
                <a:latin typeface="Malgun Gothic"/>
              </a:rPr>
              <a:t>행정동별 출발/도착 승객수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2221992"/>
            <a:ext cx="292608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Malgun Gothic"/>
              </a:rPr>
              <a:t>target과 lag feature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926080"/>
            <a:ext cx="107899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090672"/>
            <a:ext cx="228600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  <a:latin typeface="Malgun Gothic"/>
              </a:rPr>
              <a:t>행정동 마스터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3090672"/>
            <a:ext cx="310896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>
                <a:solidFill>
                  <a:srgbClr val="5A6577"/>
                </a:solidFill>
                <a:latin typeface="Malgun Gothic"/>
              </a:rPr>
              <a:t>행정동 코드와 이름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3090672"/>
            <a:ext cx="292608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Malgun Gothic"/>
              </a:rPr>
              <a:t>강남 9개 동 필터링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794760"/>
            <a:ext cx="107899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59352"/>
            <a:ext cx="228600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  <a:latin typeface="Malgun Gothic"/>
              </a:rPr>
              <a:t>기상청 ASOS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959352"/>
            <a:ext cx="310896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>
                <a:solidFill>
                  <a:srgbClr val="5A6577"/>
                </a:solidFill>
                <a:latin typeface="Malgun Gothic"/>
              </a:rPr>
              <a:t>기온, 강수, 습도, 풍속, 적설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3959352"/>
            <a:ext cx="292608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Malgun Gothic"/>
              </a:rPr>
              <a:t>날씨 feature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663440"/>
            <a:ext cx="107899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828031"/>
            <a:ext cx="228600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  <a:latin typeface="Malgun Gothic"/>
              </a:rPr>
              <a:t>특일 정보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828031"/>
            <a:ext cx="310896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>
                <a:solidFill>
                  <a:srgbClr val="5A6577"/>
                </a:solidFill>
                <a:latin typeface="Malgun Gothic"/>
              </a:rPr>
              <a:t>공휴일, 공휴일 전날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4828031"/>
            <a:ext cx="292608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Malgun Gothic"/>
              </a:rPr>
              <a:t>휴일 feature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650992"/>
            <a:ext cx="15544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1">
                <a:solidFill>
                  <a:srgbClr val="16805F"/>
                </a:solidFill>
                <a:latin typeface="Malgun Gothic"/>
              </a:rPr>
              <a:t>수집 후 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48840" y="5650992"/>
            <a:ext cx="8869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Malgun Gothic"/>
              </a:rPr>
              <a:t>시간대 기준 정렬 → 강남 9개 동 필터링 → 날씨/휴일 join → lag feature 생성 → Colab 학습용 CSV export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46520"/>
            <a:ext cx="502920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5A6577"/>
                </a:solidFill>
                <a:latin typeface="Malgun Gothic"/>
              </a:rPr>
              <a:t>공개 데이터 기반 근미래 이동 수요 예측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2743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Malgun Gothic"/>
              </a:rPr>
              <a:t>A-Eye 중간발표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9875520" cy="6217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>
                <a:solidFill>
                  <a:srgbClr val="1F2937"/>
                </a:solidFill>
                <a:latin typeface="Malgun Gothic"/>
              </a:rPr>
              <a:t>학습 데이터셋: 2년치 시간대별 이동 수요 테이블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10512"/>
            <a:ext cx="11155680" cy="10972"/>
          </a:xfrm>
          <a:prstGeom prst="rect">
            <a:avLst/>
          </a:prstGeom>
          <a:solidFill>
            <a:srgbClr val="D8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2057400"/>
            <a:ext cx="24231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2304288"/>
            <a:ext cx="1920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1F2937"/>
                </a:solidFill>
                <a:latin typeface="Malgun Gothic"/>
              </a:rPr>
              <a:t>153,792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788920"/>
            <a:ext cx="192024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>
                <a:solidFill>
                  <a:srgbClr val="5A6577"/>
                </a:solidFill>
                <a:latin typeface="Malgun Gothic"/>
              </a:rPr>
              <a:t>원천 join rows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2057400"/>
            <a:ext cx="24231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21608" y="2304288"/>
            <a:ext cx="1920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1F2937"/>
                </a:solidFill>
                <a:latin typeface="Malgun Gothic"/>
              </a:rPr>
              <a:t>153,783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21608" y="2788920"/>
            <a:ext cx="192024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>
                <a:solidFill>
                  <a:srgbClr val="5A6577"/>
                </a:solidFill>
                <a:latin typeface="Malgun Gothic"/>
              </a:rPr>
              <a:t>target 생성 후 rows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2057400"/>
            <a:ext cx="24231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56248" y="2304288"/>
            <a:ext cx="1920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1F2937"/>
                </a:solidFill>
                <a:latin typeface="Malgun Gothic"/>
              </a:rPr>
              <a:t>712일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6248" y="2788920"/>
            <a:ext cx="192024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>
                <a:solidFill>
                  <a:srgbClr val="5A6577"/>
                </a:solidFill>
                <a:latin typeface="Malgun Gothic"/>
              </a:rPr>
              <a:t>분석 가능한 날짜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89720" y="2057400"/>
            <a:ext cx="24231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90888" y="2304288"/>
            <a:ext cx="1920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1F2937"/>
                </a:solidFill>
                <a:latin typeface="Malgun Gothic"/>
              </a:rPr>
              <a:t>9개 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90888" y="2788920"/>
            <a:ext cx="192024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>
                <a:solidFill>
                  <a:srgbClr val="5A6577"/>
                </a:solidFill>
                <a:latin typeface="Malgun Gothic"/>
              </a:rPr>
              <a:t>예측 지역 단위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794760"/>
            <a:ext cx="52578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069080"/>
            <a:ext cx="21945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1">
                <a:solidFill>
                  <a:srgbClr val="1F2937"/>
                </a:solidFill>
                <a:latin typeface="Malgun Gothic"/>
              </a:rPr>
              <a:t>주요 입력 feature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434840"/>
            <a:ext cx="4251960" cy="86868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F2937"/>
                </a:solidFill>
                <a:latin typeface="Malgun Gothic"/>
              </a:defRPr>
            </a:pPr>
            <a:r>
              <a:t>행정동, 시간, 요일, 주말 여부</a:t>
            </a:r>
          </a:p>
          <a:p>
            <a:pPr>
              <a:spcAft>
                <a:spcPts val="600"/>
              </a:spcAft>
              <a:defRPr sz="1300">
                <a:solidFill>
                  <a:srgbClr val="1F2937"/>
                </a:solidFill>
                <a:latin typeface="Malgun Gothic"/>
              </a:defRPr>
            </a:pPr>
            <a:r>
              <a:t>현재/직전/전날/전주 같은 시간 수요</a:t>
            </a:r>
          </a:p>
          <a:p>
            <a:pPr>
              <a:spcAft>
                <a:spcPts val="600"/>
              </a:spcAft>
              <a:defRPr sz="1300">
                <a:solidFill>
                  <a:srgbClr val="1F2937"/>
                </a:solidFill>
                <a:latin typeface="Malgun Gothic"/>
              </a:defRPr>
            </a:pPr>
            <a:r>
              <a:t>기온, 강수, 적설, 습도, 풍속</a:t>
            </a:r>
          </a:p>
          <a:p>
            <a:pPr>
              <a:spcAft>
                <a:spcPts val="600"/>
              </a:spcAft>
              <a:defRPr sz="1300">
                <a:solidFill>
                  <a:srgbClr val="1F2937"/>
                </a:solidFill>
                <a:latin typeface="Malgun Gothic"/>
              </a:defRPr>
            </a:pPr>
            <a:r>
              <a:t>공휴일, 공휴일 전날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94760"/>
            <a:ext cx="4800600" cy="164592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E8F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4069080"/>
            <a:ext cx="14630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1">
                <a:solidFill>
                  <a:srgbClr val="16805F"/>
                </a:solidFill>
                <a:latin typeface="Malgun Gothic"/>
              </a:rPr>
              <a:t>Target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4480560"/>
            <a:ext cx="38404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Malgun Gothic"/>
              </a:rPr>
              <a:t>target_transit_boardings_t_plus_1h
다음 1시간 동별 대중교통 승차량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46520"/>
            <a:ext cx="502920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5A6577"/>
                </a:solidFill>
                <a:latin typeface="Malgun Gothic"/>
              </a:rPr>
              <a:t>공개 데이터 기반 근미래 이동 수요 예측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2743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Malgun Gothic"/>
              </a:rPr>
              <a:t>A-Eye 중간발표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9875520" cy="6217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>
                <a:solidFill>
                  <a:srgbClr val="1F2937"/>
                </a:solidFill>
                <a:latin typeface="Malgun Gothic"/>
              </a:rPr>
              <a:t>데이터에서 보인 패턴: 요일과 시간대가 가장 강했습니다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10512"/>
            <a:ext cx="11155680" cy="10972"/>
          </a:xfrm>
          <a:prstGeom prst="rect">
            <a:avLst/>
          </a:prstGeom>
          <a:solidFill>
            <a:srgbClr val="D8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2_transit_hourly_patte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29968"/>
            <a:ext cx="5029200" cy="2828925"/>
          </a:xfrm>
          <a:prstGeom prst="rect">
            <a:avLst/>
          </a:prstGeom>
        </p:spPr>
      </p:pic>
      <p:pic>
        <p:nvPicPr>
          <p:cNvPr id="6" name="Picture 5" descr="03_transit_dong_rank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029968"/>
            <a:ext cx="5029200" cy="282892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85800" y="5532120"/>
            <a:ext cx="105156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5696712"/>
            <a:ext cx="64008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Malgun Gothic"/>
              </a:rPr>
              <a:t>해석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5669280"/>
            <a:ext cx="91440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Malgun Gothic"/>
              </a:rPr>
              <a:t>금요일·목요일·화요일 수요가 높고, 일요일·공휴일은 낮았습니다. 날씨는 보조 신호였고, 반복되는 생활 패턴이 더 강했습니다.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502920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5A6577"/>
                </a:solidFill>
                <a:latin typeface="Malgun Gothic"/>
              </a:rPr>
              <a:t>공개 데이터 기반 근미래 이동 수요 예측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2743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Malgun Gothic"/>
              </a:rPr>
              <a:t>A-Eye 중간발표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9875520" cy="6217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>
                <a:solidFill>
                  <a:srgbClr val="1F2937"/>
                </a:solidFill>
                <a:latin typeface="Malgun Gothic"/>
              </a:rPr>
              <a:t>모델 학습: 다음 1시간 수요를 동 단위로 예측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10512"/>
            <a:ext cx="11155680" cy="10972"/>
          </a:xfrm>
          <a:prstGeom prst="rect">
            <a:avLst/>
          </a:prstGeom>
          <a:solidFill>
            <a:srgbClr val="D8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9_model_feature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20240"/>
            <a:ext cx="6629400" cy="406050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635240" y="1920240"/>
            <a:ext cx="356616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36992" y="2240280"/>
            <a:ext cx="20116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Malgun Gothic"/>
              </a:rPr>
              <a:t>학습 방식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36992" y="2743200"/>
            <a:ext cx="2788920" cy="16459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Malgun Gothic"/>
              </a:defRPr>
            </a:pPr>
            <a:r>
              <a:t>모델: HistGradientBoostingRegressor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Malgun Gothic"/>
              </a:defRPr>
            </a:pPr>
            <a:r>
              <a:t>Train / Validation / Test 시간 순서 분리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Malgun Gothic"/>
              </a:defRPr>
            </a:pPr>
            <a:r>
              <a:t>과거 수요 lag를 넣어 생활 패턴 반영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Malgun Gothic"/>
              </a:defRPr>
            </a:pPr>
            <a:r>
              <a:t>결과는 대중교통 수요 proxy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36992" y="4754880"/>
            <a:ext cx="182880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>
                <a:solidFill>
                  <a:srgbClr val="16805F"/>
                </a:solidFill>
                <a:latin typeface="Malgun Gothic"/>
              </a:rPr>
              <a:t>말할 포인트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6992" y="5074920"/>
            <a:ext cx="27432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>
                <a:solidFill>
                  <a:srgbClr val="5A6577"/>
                </a:solidFill>
                <a:latin typeface="Malgun Gothic"/>
              </a:rPr>
              <a:t>정답 데이터가 택시 호출량은 아니므로, 지도 위 수요 신호로 해석합니다.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502920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5A6577"/>
                </a:solidFill>
                <a:latin typeface="Malgun Gothic"/>
              </a:rPr>
              <a:t>공개 데이터 기반 근미래 이동 수요 예측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2743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Malgun Gothic"/>
              </a:rPr>
              <a:t>A-Eye 중간발표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9875520" cy="6217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>
                <a:solidFill>
                  <a:srgbClr val="1F2937"/>
                </a:solidFill>
                <a:latin typeface="Malgun Gothic"/>
              </a:rPr>
              <a:t>학습 결과: 테스트 구간에서도 패턴을 안정적으로 따라갔습니다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10512"/>
            <a:ext cx="11155680" cy="10972"/>
          </a:xfrm>
          <a:prstGeom prst="rect">
            <a:avLst/>
          </a:prstGeom>
          <a:solidFill>
            <a:srgbClr val="D8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6_model_metrics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01952"/>
            <a:ext cx="5577840" cy="3416427"/>
          </a:xfrm>
          <a:prstGeom prst="rect">
            <a:avLst/>
          </a:prstGeom>
        </p:spPr>
      </p:pic>
      <p:pic>
        <p:nvPicPr>
          <p:cNvPr id="6" name="Picture 5" descr="07_actual_vs_predicted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901952"/>
            <a:ext cx="5349240" cy="327641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46520"/>
            <a:ext cx="502920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5A6577"/>
                </a:solidFill>
                <a:latin typeface="Malgun Gothic"/>
              </a:rPr>
              <a:t>공개 데이터 기반 근미래 이동 수요 예측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2743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Malgun Gothic"/>
              </a:rPr>
              <a:t>A-Eye 중간발표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9875520" cy="6217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>
                <a:solidFill>
                  <a:srgbClr val="1F2937"/>
                </a:solidFill>
                <a:latin typeface="Malgun Gothic"/>
              </a:rPr>
              <a:t>예측 예시: 피크와 저점의 흐름을 따라가는지 확인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10512"/>
            <a:ext cx="11155680" cy="10972"/>
          </a:xfrm>
          <a:prstGeom prst="rect">
            <a:avLst/>
          </a:prstGeom>
          <a:solidFill>
            <a:srgbClr val="D8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8_prediction_timeseries_s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20240"/>
            <a:ext cx="7315200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366760" y="2148840"/>
            <a:ext cx="283464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1080" y="2450592"/>
            <a:ext cx="21945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1">
                <a:solidFill>
                  <a:srgbClr val="1F2937"/>
                </a:solidFill>
                <a:latin typeface="Malgun Gothic"/>
              </a:rPr>
              <a:t>이 그래프에서 볼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1080" y="2926080"/>
            <a:ext cx="2240280" cy="1371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F2937"/>
                </a:solidFill>
                <a:latin typeface="Malgun Gothic"/>
              </a:defRPr>
            </a:pPr>
            <a:r>
              <a:t>예측선이 실제선과 같은 방향으로 움직이는지</a:t>
            </a:r>
          </a:p>
          <a:p>
            <a:pPr>
              <a:spcAft>
                <a:spcPts val="600"/>
              </a:spcAft>
              <a:defRPr sz="1300">
                <a:solidFill>
                  <a:srgbClr val="1F2937"/>
                </a:solidFill>
                <a:latin typeface="Malgun Gothic"/>
              </a:defRPr>
            </a:pPr>
            <a:r>
              <a:t>출퇴근 피크를 놓치지 않는지</a:t>
            </a:r>
          </a:p>
          <a:p>
            <a:pPr>
              <a:spcAft>
                <a:spcPts val="600"/>
              </a:spcAft>
              <a:defRPr sz="1300">
                <a:solidFill>
                  <a:srgbClr val="1F2937"/>
                </a:solidFill>
                <a:latin typeface="Malgun Gothic"/>
              </a:defRPr>
            </a:pPr>
            <a:r>
              <a:t>낮은 수요 시간대에서 과하게 튀지 않는지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1080" y="4617720"/>
            <a:ext cx="214884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>
                <a:solidFill>
                  <a:srgbClr val="5A6577"/>
                </a:solidFill>
                <a:latin typeface="Malgun Gothic"/>
              </a:rPr>
              <a:t>한 시점의 숫자보다 흐름을 맞추는지 강조하면 좋습니다.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502920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5A6577"/>
                </a:solidFill>
                <a:latin typeface="Malgun Gothic"/>
              </a:rPr>
              <a:t>공개 데이터 기반 근미래 이동 수요 예측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2743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Malgun Gothic"/>
              </a:rPr>
              <a:t>A-Eye 중간발표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9875520" cy="6217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>
                <a:solidFill>
                  <a:srgbClr val="1F2937"/>
                </a:solidFill>
                <a:latin typeface="Malgun Gothic"/>
              </a:rPr>
              <a:t>서비스 연결: 지도에서 결과 페이지로 바로 이동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10512"/>
            <a:ext cx="11155680" cy="10972"/>
          </a:xfrm>
          <a:prstGeom prst="rect">
            <a:avLst/>
          </a:prstGeom>
          <a:solidFill>
            <a:srgbClr val="D8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2057400"/>
            <a:ext cx="484632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395728"/>
            <a:ext cx="21031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Malgun Gothic"/>
              </a:rPr>
              <a:t>현재 사이트 반영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880360"/>
            <a:ext cx="3977639" cy="15087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Malgun Gothic"/>
              </a:defRPr>
            </a:pPr>
            <a:r>
              <a:t>메인 지도 화면 상단에 “A-Eye 발표 자료” 버튼 추가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Malgun Gothic"/>
              </a:defRPr>
            </a:pPr>
            <a:r>
              <a:t>/presentation 경로에 데이터 출처, 학습 결과, 결론 정리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Malgun Gothic"/>
              </a:defRPr>
            </a:pPr>
            <a:r>
              <a:t>Cloudflare 배포 부담을 줄이기 위해 가벼운 asset만 public에 포함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2057400"/>
            <a:ext cx="5166360" cy="320040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8F0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91072" y="2395728"/>
            <a:ext cx="21031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>
                <a:solidFill>
                  <a:srgbClr val="2563EB"/>
                </a:solidFill>
                <a:latin typeface="Malgun Gothic"/>
              </a:rPr>
              <a:t>다음 연결 방향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91072" y="2880360"/>
            <a:ext cx="4069080" cy="15087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Malgun Gothic"/>
              </a:defRPr>
            </a:pPr>
            <a:r>
              <a:t>지도 위 행정동별 수요 색상/랭킹 overlay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Malgun Gothic"/>
              </a:defRPr>
            </a:pPr>
            <a:r>
              <a:t>실시간 citydata와 예측 모델 결과를 함께 표시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Malgun Gothic"/>
              </a:defRPr>
            </a:pPr>
            <a:r>
              <a:t>향후 실제 택시 호출 데이터 확보 시 proxy 보정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502920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5A6577"/>
                </a:solidFill>
                <a:latin typeface="Malgun Gothic"/>
              </a:rPr>
              <a:t>공개 데이터 기반 근미래 이동 수요 예측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2743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Malgun Gothic"/>
              </a:rPr>
              <a:t>A-Eye 중간발표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9875520" cy="6217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>
                <a:solidFill>
                  <a:srgbClr val="1F2937"/>
                </a:solidFill>
                <a:latin typeface="Malgun Gothic"/>
              </a:rPr>
              <a:t>한계와 다음 개선점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10512"/>
            <a:ext cx="11155680" cy="10972"/>
          </a:xfrm>
          <a:prstGeom prst="rect">
            <a:avLst/>
          </a:prstGeom>
          <a:solidFill>
            <a:srgbClr val="D8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2148840"/>
            <a:ext cx="324612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2487168"/>
            <a:ext cx="2286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Malgun Gothic"/>
              </a:rPr>
              <a:t>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999232"/>
            <a:ext cx="2606040" cy="19659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F2937"/>
                </a:solidFill>
                <a:latin typeface="Malgun Gothic"/>
              </a:defRPr>
            </a:pPr>
            <a:r>
              <a:t>실제 택시 호출량 데이터가 아님</a:t>
            </a:r>
          </a:p>
          <a:p>
            <a:pPr>
              <a:spcAft>
                <a:spcPts val="600"/>
              </a:spcAft>
              <a:defRPr sz="1300">
                <a:solidFill>
                  <a:srgbClr val="1F2937"/>
                </a:solidFill>
                <a:latin typeface="Malgun Gothic"/>
              </a:defRPr>
            </a:pPr>
            <a:r>
              <a:t>대중교통 수요가 택시 수요와 항상 같지는 않음</a:t>
            </a:r>
          </a:p>
          <a:p>
            <a:pPr>
              <a:spcAft>
                <a:spcPts val="600"/>
              </a:spcAft>
              <a:defRPr sz="1300">
                <a:solidFill>
                  <a:srgbClr val="1F2937"/>
                </a:solidFill>
                <a:latin typeface="Malgun Gothic"/>
              </a:defRPr>
            </a:pPr>
            <a:r>
              <a:t>날씨의 영향은 요일/시간보다 약하게 나타남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2148840"/>
            <a:ext cx="324612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90872" y="2487168"/>
            <a:ext cx="2286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>
                <a:solidFill>
                  <a:srgbClr val="2563EB"/>
                </a:solidFill>
                <a:latin typeface="Malgun Gothic"/>
              </a:rPr>
              <a:t>개선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0872" y="2999232"/>
            <a:ext cx="2606040" cy="19659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F2937"/>
                </a:solidFill>
                <a:latin typeface="Malgun Gothic"/>
              </a:defRPr>
            </a:pPr>
            <a:r>
              <a:t>실제 호출/승하차 데이터 확보 시 보정</a:t>
            </a:r>
          </a:p>
          <a:p>
            <a:pPr>
              <a:spcAft>
                <a:spcPts val="600"/>
              </a:spcAft>
              <a:defRPr sz="1300">
                <a:solidFill>
                  <a:srgbClr val="1F2937"/>
                </a:solidFill>
                <a:latin typeface="Malgun Gothic"/>
              </a:defRPr>
            </a:pPr>
            <a:r>
              <a:t>5분/15분 등 예측 horizon 확장</a:t>
            </a:r>
          </a:p>
          <a:p>
            <a:pPr>
              <a:spcAft>
                <a:spcPts val="600"/>
              </a:spcAft>
              <a:defRPr sz="1300">
                <a:solidFill>
                  <a:srgbClr val="1F2937"/>
                </a:solidFill>
                <a:latin typeface="Malgun Gothic"/>
              </a:defRPr>
            </a:pPr>
            <a:r>
              <a:t>지도 UI에서 동별 수요와 신뢰도 함께 표시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79" y="2148840"/>
            <a:ext cx="324612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39911" y="2487168"/>
            <a:ext cx="2286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Malgun Gothic"/>
              </a:rPr>
              <a:t>발표 결론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39911" y="2999232"/>
            <a:ext cx="2606040" cy="19659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F2937"/>
                </a:solidFill>
                <a:latin typeface="Malgun Gothic"/>
              </a:defRPr>
            </a:pPr>
            <a:r>
              <a:t>공개 데이터만으로도 근미래 이동 수요 신호를 만들 수 있음</a:t>
            </a:r>
          </a:p>
          <a:p>
            <a:pPr>
              <a:spcAft>
                <a:spcPts val="600"/>
              </a:spcAft>
              <a:defRPr sz="1300">
                <a:solidFill>
                  <a:srgbClr val="1F2937"/>
                </a:solidFill>
                <a:latin typeface="Malgun Gothic"/>
              </a:defRPr>
            </a:pPr>
            <a:r>
              <a:t>데이터 수집 파이프라인과 모델 연결 구조를 확보함</a:t>
            </a:r>
          </a:p>
          <a:p>
            <a:pPr>
              <a:spcAft>
                <a:spcPts val="600"/>
              </a:spcAft>
              <a:defRPr sz="1300">
                <a:solidFill>
                  <a:srgbClr val="1F2937"/>
                </a:solidFill>
                <a:latin typeface="Malgun Gothic"/>
              </a:defRPr>
            </a:pPr>
            <a:r>
              <a:t>다음 단계는 서비스 지도에 예측 결과를 자연스럽게 붙이는 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989320"/>
            <a:ext cx="164592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>
                <a:solidFill>
                  <a:srgbClr val="16805F"/>
                </a:solidFill>
                <a:latin typeface="Malgun Gothic"/>
              </a:rPr>
              <a:t>마무리 문장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5961888"/>
            <a:ext cx="90525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Malgun Gothic"/>
              </a:rPr>
              <a:t>이번 중간 결과는 완성된 택시 수요 모델보다, A-Eye가 공개 데이터로 수요 신호를 만들고 지도에 연결할 수 있음을 검증한 단계입니다.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46520"/>
            <a:ext cx="502920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5A6577"/>
                </a:solidFill>
                <a:latin typeface="Malgun Gothic"/>
              </a:rPr>
              <a:t>공개 데이터 기반 근미래 이동 수요 예측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