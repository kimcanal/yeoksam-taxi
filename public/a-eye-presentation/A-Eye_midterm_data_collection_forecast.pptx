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274320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algun Gothic"/>
              </a:rPr>
              <a:t>kakao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365760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Malgun Gothic"/>
              </a:rPr>
              <a:t>mobility  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6766560" cy="138988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3400" b="1">
                <a:solidFill>
                  <a:srgbClr val="1A1A1A"/>
                </a:solidFill>
                <a:latin typeface="Malgun Gothic"/>
              </a:rPr>
              <a:t>역삼동 택시
Digital Twin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71800"/>
            <a:ext cx="7040880" cy="4114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algun Gothic"/>
              </a:rPr>
              <a:t>데이터 수집 개선 및 근미래 이동 수요 예측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663440"/>
            <a:ext cx="7772400" cy="32004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algun Gothic"/>
              </a:rPr>
              <a:t>Three.js  ·  OpenStreetMap  ·  Cloudflare Pages  ·  Colab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685800"/>
            <a:ext cx="2057400" cy="384048"/>
          </a:xfrm>
          <a:prstGeom prst="round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45352" y="722376"/>
            <a:ext cx="1911095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000" b="1">
                <a:solidFill>
                  <a:srgbClr val="FFCD00"/>
                </a:solidFill>
                <a:latin typeface="Malgun Gothic"/>
              </a:rPr>
              <a:t>PUBLIC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234440"/>
            <a:ext cx="2194560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500" b="1">
                <a:solidFill>
                  <a:srgbClr val="1A1A1A"/>
                </a:solidFill>
                <a:latin typeface="Malgun Gothic"/>
              </a:rPr>
              <a:t>중간발표 추가본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4206240" cy="32004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역삼 택시  · 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"/>
            <a:ext cx="2560320" cy="32004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68096"/>
            <a:ext cx="8229600" cy="47548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발표 순서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298448"/>
            <a:ext cx="3977639" cy="932688"/>
          </a:xfrm>
          <a:prstGeom prst="round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298448"/>
            <a:ext cx="3977639" cy="9144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408176"/>
            <a:ext cx="731520" cy="32004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773936"/>
            <a:ext cx="3474720" cy="21945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algun Gothic"/>
              </a:rPr>
              <a:t>yeoksam-taxi 소개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993391"/>
            <a:ext cx="3520440" cy="16459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880" b="0">
                <a:solidFill>
                  <a:srgbClr val="FFFFFF"/>
                </a:solidFill>
                <a:latin typeface="Malgun Gothic"/>
              </a:rPr>
              <a:t>웹 기반 Digital Twin 데모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1298448"/>
            <a:ext cx="3977639" cy="932688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0" y="1298448"/>
            <a:ext cx="3977639" cy="9144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9472" y="1408176"/>
            <a:ext cx="731520" cy="32004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algun Gothi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9472" y="1773936"/>
            <a:ext cx="3474720" cy="21945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algun Gothic"/>
              </a:rPr>
              <a:t>명세서 대비 변경 사항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19472" y="1993391"/>
            <a:ext cx="3520440" cy="16459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880" b="0">
                <a:solidFill>
                  <a:srgbClr val="1A1A1A"/>
                </a:solidFill>
                <a:latin typeface="Malgun Gothic"/>
              </a:rPr>
              <a:t>왜 실제 도로망과 웹 배포로 바꿨는가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2377439"/>
            <a:ext cx="3977639" cy="932688"/>
          </a:xfrm>
          <a:prstGeom prst="round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2377439"/>
            <a:ext cx="3977639" cy="9144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2487168"/>
            <a:ext cx="731520" cy="32004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2852927"/>
            <a:ext cx="3474720" cy="21945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algun Gothic"/>
              </a:rPr>
              <a:t>시스템 구조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3072383"/>
            <a:ext cx="3520440" cy="16459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880" b="0">
                <a:solidFill>
                  <a:srgbClr val="FFFFFF"/>
                </a:solidFill>
                <a:latin typeface="Malgun Gothic"/>
              </a:rPr>
              <a:t>M1~M4 모듈 연결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0" y="2377439"/>
            <a:ext cx="3977639" cy="932688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0" y="2377439"/>
            <a:ext cx="3977639" cy="9144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9472" y="2487168"/>
            <a:ext cx="731520" cy="32004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algun Gothic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19472" y="2852927"/>
            <a:ext cx="3474720" cy="21945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algun Gothic"/>
              </a:rPr>
              <a:t>데이터 수집 개선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19472" y="3072383"/>
            <a:ext cx="3520440" cy="16459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880" b="0">
                <a:solidFill>
                  <a:srgbClr val="1A1A1A"/>
                </a:solidFill>
                <a:latin typeface="Malgun Gothic"/>
              </a:rPr>
              <a:t>대중교통, 날씨, 휴일 데이터 결합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" y="3456432"/>
            <a:ext cx="3977639" cy="932688"/>
          </a:xfrm>
          <a:prstGeom prst="round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3456432"/>
            <a:ext cx="3977639" cy="9144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" y="3566160"/>
            <a:ext cx="731520" cy="32004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0352" y="3931920"/>
            <a:ext cx="3474720" cy="21945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algun Gothic"/>
              </a:rPr>
              <a:t>학습 결과와 서비스 연결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4151376"/>
            <a:ext cx="3520440" cy="16459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880" b="0">
                <a:solidFill>
                  <a:srgbClr val="FFFFFF"/>
                </a:solidFill>
                <a:latin typeface="Malgun Gothic"/>
              </a:rPr>
              <a:t>Colab 모델 결과와 지도 연동 방향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4206240" cy="32004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역삼 택시  · 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"/>
            <a:ext cx="2560320" cy="32004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</a:rPr>
              <a:t>프로젝트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68096"/>
            <a:ext cx="8229600" cy="47548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yeoksam-taxi는 무엇인가요?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261872"/>
            <a:ext cx="8229600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Malgun Gothic"/>
              </a:rPr>
              <a:t>A-Eye를 설명하기 위한 웹 기반 3D Digital Twin 데모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627632"/>
            <a:ext cx="2606040" cy="29718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627632"/>
            <a:ext cx="2606040" cy="9144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4672" y="1828800"/>
            <a:ext cx="1737360" cy="438912"/>
          </a:xfrm>
          <a:prstGeom prst="round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865376"/>
            <a:ext cx="1591056" cy="3657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보여주는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633472"/>
            <a:ext cx="2057400" cy="13258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500" b="1">
                <a:solidFill>
                  <a:srgbClr val="1A1A1A"/>
                </a:solidFill>
                <a:latin typeface="Malgun Gothic"/>
              </a:rPr>
              <a:t>실제 OSM 도로망 위에서
택시 흐름과 지역별 수요를
시각적으로 설명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82112" y="1627632"/>
            <a:ext cx="2606040" cy="29718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82112" y="1627632"/>
            <a:ext cx="2606040" cy="9144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621024" y="1828800"/>
            <a:ext cx="1737360" cy="43891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94176" y="1865376"/>
            <a:ext cx="1591056" cy="3657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연결하는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633472"/>
            <a:ext cx="2057400" cy="13258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500" b="1">
                <a:solidFill>
                  <a:srgbClr val="1A1A1A"/>
                </a:solidFill>
                <a:latin typeface="Malgun Gothic"/>
              </a:rPr>
              <a:t>공개 데이터 수집 →
수요 예측 결과 →
지도 레이어 연결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98464" y="1627632"/>
            <a:ext cx="2606040" cy="29718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98464" y="1627632"/>
            <a:ext cx="2606040" cy="9144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37376" y="1828800"/>
            <a:ext cx="1737360" cy="438912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1865376"/>
            <a:ext cx="1591056" cy="3657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발표에서의 역할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2633472"/>
            <a:ext cx="2057400" cy="13258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500" b="1">
                <a:solidFill>
                  <a:srgbClr val="1A1A1A"/>
                </a:solidFill>
                <a:latin typeface="Malgun Gothic"/>
              </a:rPr>
              <a:t>노트북 결과만 보여주는 대신
웹 화면에서 바로 시연 가능한
A-Eye 설명 도구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4206240" cy="32004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역삼 택시  · 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"/>
            <a:ext cx="2560320" cy="32004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</a:rPr>
              <a:t>프로젝트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68096"/>
            <a:ext cx="8229600" cy="47548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실제 화면: 브라우저에서 보는 3D 택시 시뮬레이터</a:t>
            </a:r>
          </a:p>
        </p:txBody>
      </p:sp>
      <p:pic>
        <p:nvPicPr>
          <p:cNvPr id="7" name="Picture 6" descr="scenario-baseline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17320"/>
            <a:ext cx="5257800" cy="295751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989320" y="1417320"/>
            <a:ext cx="2697480" cy="30632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89320" y="1417320"/>
            <a:ext cx="2697480" cy="9144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6208" y="1700784"/>
            <a:ext cx="1828800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algun Gothic"/>
              </a:rPr>
              <a:t>핵심 기능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8" y="2148840"/>
            <a:ext cx="2148840" cy="1508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2937"/>
                </a:solidFill>
                <a:latin typeface="Malgun Gothic"/>
              </a:rPr>
              <a:t>• OSM 기반 도로/건물/행정동 시각화
• 택시와 일반 교통 흐름 애니메이션
• 날씨·시간·수요 시나리오 전환
• 발표 자료 페이지와 바로 연결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3986784"/>
            <a:ext cx="2157984" cy="292608"/>
          </a:xfrm>
          <a:prstGeom prst="round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4050791"/>
            <a:ext cx="2011680" cy="16459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Malgun Gothic"/>
              </a:rPr>
              <a:t>Three.js · Next.js · Cloudflare Pages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4206240" cy="32004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역삼 택시  · 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"/>
            <a:ext cx="2560320" cy="32004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</a:rPr>
              <a:t>변경 사항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68096"/>
            <a:ext cx="8229600" cy="47548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명세서와 다르게 구현한 부분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261872"/>
            <a:ext cx="8229600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Malgun Gothic"/>
              </a:rPr>
              <a:t>시연 가능성과 실제 데이터 연결성을 높이기 위한 의도적 변경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664208"/>
            <a:ext cx="8412480" cy="585216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764792"/>
            <a:ext cx="1143000" cy="34747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801368"/>
            <a:ext cx="996696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공간 범위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83080" y="1764792"/>
            <a:ext cx="2148840" cy="347472"/>
          </a:xfrm>
          <a:prstGeom prst="round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56231" y="1801368"/>
            <a:ext cx="2002536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000" b="1">
                <a:solidFill>
                  <a:srgbClr val="1A1A1A"/>
                </a:solidFill>
                <a:latin typeface="Malgun Gothic"/>
              </a:rPr>
              <a:t>✕  3×3 추상 격자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783080"/>
            <a:ext cx="256032" cy="29260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Malgun Gothic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0832" y="1764792"/>
            <a:ext cx="2148840" cy="347472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43984" y="1801368"/>
            <a:ext cx="2002536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000" b="1">
                <a:solidFill>
                  <a:srgbClr val="1A1A1A"/>
                </a:solidFill>
                <a:latin typeface="Malgun Gothic"/>
              </a:rPr>
              <a:t>✓  실제 행정동/도로망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5392" y="1755648"/>
            <a:ext cx="205740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  <a:latin typeface="Malgun Gothic"/>
              </a:rPr>
              <a:t>역삼·강남의 실제 공간 구조를 반영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2331720"/>
            <a:ext cx="8412480" cy="585216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" y="2432303"/>
            <a:ext cx="1143000" cy="347472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2468879"/>
            <a:ext cx="996696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지도 데이터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783080" y="2432303"/>
            <a:ext cx="2148840" cy="347472"/>
          </a:xfrm>
          <a:prstGeom prst="round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56231" y="2468879"/>
            <a:ext cx="2002536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000" b="1">
                <a:solidFill>
                  <a:srgbClr val="1A1A1A"/>
                </a:solidFill>
                <a:latin typeface="Malgun Gothic"/>
              </a:rPr>
              <a:t>✕  추상 3D Asset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2450591"/>
            <a:ext cx="256032" cy="29260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Malgun Gothic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70832" y="2432303"/>
            <a:ext cx="2148840" cy="347472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43984" y="2468879"/>
            <a:ext cx="2002536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000" b="1">
                <a:solidFill>
                  <a:srgbClr val="1A1A1A"/>
                </a:solidFill>
                <a:latin typeface="Malgun Gothic"/>
              </a:rPr>
              <a:t>✓  OpenStreetMap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65392" y="2423160"/>
            <a:ext cx="205740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  <a:latin typeface="Malgun Gothic"/>
              </a:rPr>
              <a:t>OSM node/way를 가져와 도로 위상 구성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2999232"/>
            <a:ext cx="8412480" cy="585216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57200" y="3099815"/>
            <a:ext cx="1143000" cy="347472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0352" y="3136391"/>
            <a:ext cx="996696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렌더링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783080" y="3099815"/>
            <a:ext cx="2148840" cy="347472"/>
          </a:xfrm>
          <a:prstGeom prst="round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856231" y="3136391"/>
            <a:ext cx="2002536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000" b="1">
                <a:solidFill>
                  <a:srgbClr val="1A1A1A"/>
                </a:solidFill>
                <a:latin typeface="Malgun Gothic"/>
              </a:rPr>
              <a:t>✕  SUMO/CARLA 중심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77639" y="3118103"/>
            <a:ext cx="256032" cy="29260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Malgun Gothic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70832" y="3099815"/>
            <a:ext cx="2148840" cy="347472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43984" y="3136391"/>
            <a:ext cx="2002536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000" b="1">
                <a:solidFill>
                  <a:srgbClr val="1A1A1A"/>
                </a:solidFill>
                <a:latin typeface="Malgun Gothic"/>
              </a:rPr>
              <a:t>✓  Three.js 웹 3D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65392" y="3090672"/>
            <a:ext cx="205740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  <a:latin typeface="Malgun Gothic"/>
              </a:rPr>
              <a:t>설치 없이 브라우저에서 바로 시연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3666744"/>
            <a:ext cx="8412480" cy="58521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57200" y="3767328"/>
            <a:ext cx="1143000" cy="347472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0352" y="3803904"/>
            <a:ext cx="996696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배포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783080" y="3767328"/>
            <a:ext cx="2148840" cy="347472"/>
          </a:xfrm>
          <a:prstGeom prst="round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856231" y="3803904"/>
            <a:ext cx="2002536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000" b="1">
                <a:solidFill>
                  <a:srgbClr val="1A1A1A"/>
                </a:solidFill>
                <a:latin typeface="Malgun Gothic"/>
              </a:rPr>
              <a:t>✕  로컬 실행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77639" y="3785615"/>
            <a:ext cx="256032" cy="29260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Malgun Gothic"/>
              </a:rPr>
              <a:t>→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370832" y="3767328"/>
            <a:ext cx="2148840" cy="347472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43984" y="3803904"/>
            <a:ext cx="2002536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000" b="1">
                <a:solidFill>
                  <a:srgbClr val="1A1A1A"/>
                </a:solidFill>
                <a:latin typeface="Malgun Gothic"/>
              </a:rPr>
              <a:t>✓  Cloudflare Pages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65392" y="3758183"/>
            <a:ext cx="205740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  <a:latin typeface="Malgun Gothic"/>
              </a:rPr>
              <a:t>URL 하나로 팀원·평가자에게 공유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65760" y="4334256"/>
            <a:ext cx="8412480" cy="585216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57200" y="4434840"/>
            <a:ext cx="1143000" cy="34747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0352" y="4471416"/>
            <a:ext cx="996696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수요 데이터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783080" y="4434840"/>
            <a:ext cx="2148840" cy="347472"/>
          </a:xfrm>
          <a:prstGeom prst="round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856231" y="4471416"/>
            <a:ext cx="2002536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000" b="1">
                <a:solidFill>
                  <a:srgbClr val="1A1A1A"/>
                </a:solidFill>
                <a:latin typeface="Malgun Gothic"/>
              </a:rPr>
              <a:t>✕  실제 택시 호출량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77639" y="4453128"/>
            <a:ext cx="256032" cy="29260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Malgun Gothic"/>
              </a:rPr>
              <a:t>→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70832" y="4434840"/>
            <a:ext cx="2148840" cy="347472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43984" y="4471416"/>
            <a:ext cx="2002536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000" b="1">
                <a:solidFill>
                  <a:srgbClr val="1A1A1A"/>
                </a:solidFill>
                <a:latin typeface="Malgun Gothic"/>
              </a:rPr>
              <a:t>✓  공개 데이터 proxy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65392" y="4425696"/>
            <a:ext cx="205740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  <a:latin typeface="Malgun Gothic"/>
              </a:rPr>
              <a:t>대중교통 승차량으로 이동 수요 신호 구성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4206240" cy="32004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역삼 택시  · 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"/>
            <a:ext cx="2560320" cy="32004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</a:rPr>
              <a:t>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68096"/>
            <a:ext cx="8229600" cy="47548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yeoksam-taxi 안에서 각 모듈이 맡는 역할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600200"/>
            <a:ext cx="1901952" cy="3063240"/>
          </a:xfrm>
          <a:prstGeom prst="round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600200"/>
            <a:ext cx="1901952" cy="9144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783080"/>
            <a:ext cx="1901952" cy="43891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Malgun Gothic"/>
              </a:rPr>
              <a:t>M1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395728"/>
            <a:ext cx="1572768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Digital Twin
시뮬레이션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3273552"/>
            <a:ext cx="1444752" cy="36576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493008"/>
            <a:ext cx="1572768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050" b="0">
                <a:solidFill>
                  <a:srgbClr val="FFFFFF"/>
                </a:solidFill>
                <a:latin typeface="Malgun Gothic"/>
              </a:rPr>
              <a:t>Three.js · OSM
3D 지도와 차량 흐름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67712" y="2743200"/>
            <a:ext cx="274320" cy="32004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2000" b="1">
                <a:solidFill>
                  <a:srgbClr val="1A1A1A"/>
                </a:solidFill>
                <a:latin typeface="Malgun Gothic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05456" y="1600200"/>
            <a:ext cx="1901952" cy="306324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05456" y="1600200"/>
            <a:ext cx="1901952" cy="9144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05456" y="1783080"/>
            <a:ext cx="1901952" cy="43891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Malgun Gothic"/>
              </a:rPr>
              <a:t>M2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70048" y="2395728"/>
            <a:ext cx="1572768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데이터 수집
전처리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34056" y="3273552"/>
            <a:ext cx="1444752" cy="36576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70048" y="3493008"/>
            <a:ext cx="1572768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050" b="0">
                <a:solidFill>
                  <a:srgbClr val="FFFFFF"/>
                </a:solidFill>
                <a:latin typeface="Malgun Gothic"/>
              </a:rPr>
              <a:t>대중교통 · 날씨 · 휴일
feature table 생성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2743200"/>
            <a:ext cx="274320" cy="32004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2000" b="1">
                <a:solidFill>
                  <a:srgbClr val="1A1A1A"/>
                </a:solidFill>
                <a:latin typeface="Malgun Gothic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45152" y="1600200"/>
            <a:ext cx="1901952" cy="306324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45152" y="1600200"/>
            <a:ext cx="1901952" cy="9144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45152" y="1783080"/>
            <a:ext cx="1901952" cy="43891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Malgun Gothic"/>
              </a:rPr>
              <a:t>M3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9744" y="2395728"/>
            <a:ext cx="1572768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수요 예측
모델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73752" y="3273552"/>
            <a:ext cx="1444752" cy="36576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09744" y="3493008"/>
            <a:ext cx="1572768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050" b="0">
                <a:solidFill>
                  <a:srgbClr val="FFFFFF"/>
                </a:solidFill>
                <a:latin typeface="Malgun Gothic"/>
              </a:rPr>
              <a:t>Colab 학습
다음 1시간 수요 예측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47104" y="2743200"/>
            <a:ext cx="274320" cy="32004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2000" b="1">
                <a:solidFill>
                  <a:srgbClr val="1A1A1A"/>
                </a:solidFill>
                <a:latin typeface="Malgun Gothic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84848" y="1600200"/>
            <a:ext cx="1901952" cy="3063240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784848" y="1600200"/>
            <a:ext cx="1901952" cy="9144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84848" y="1783080"/>
            <a:ext cx="1901952" cy="43891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Malgun Gothic"/>
              </a:rPr>
              <a:t>M4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2395728"/>
            <a:ext cx="1572768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배차 판단
인센티브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13448" y="3273552"/>
            <a:ext cx="1444752" cy="36576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49440" y="3493008"/>
            <a:ext cx="1572768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050" b="0">
                <a:solidFill>
                  <a:srgbClr val="FFFFFF"/>
                </a:solidFill>
                <a:latin typeface="Malgun Gothic"/>
              </a:rPr>
              <a:t>수요 불균형을 보고
대기/이동 전략 연결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4206240" cy="32004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역삼 택시  · 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"/>
            <a:ext cx="2560320" cy="32004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</a:rPr>
              <a:t>기술 구현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68096"/>
            <a:ext cx="8229600" cy="47548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Three.js + OpenStreetMap + Cloudflare Pages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261872"/>
            <a:ext cx="8229600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Malgun Gothic"/>
              </a:rPr>
              <a:t>로컬 프로그램이 아니라 웹에서 바로 보여주는 데모로 전환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572768"/>
            <a:ext cx="4023360" cy="3154680"/>
          </a:xfrm>
          <a:prstGeom prst="round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572768"/>
            <a:ext cx="4023360" cy="9144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83080"/>
            <a:ext cx="3383280" cy="32004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algun Gothic"/>
              </a:rPr>
              <a:t>OSM → Three.js 파이프라인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267712"/>
            <a:ext cx="3474720" cy="310896"/>
          </a:xfrm>
          <a:prstGeom prst="round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76856"/>
            <a:ext cx="3291840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  <a:latin typeface="Malgun Gothic"/>
              </a:rPr>
              <a:t>① Overpass API로 도로/건물/행정동 데이터 수집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706624"/>
            <a:ext cx="3474720" cy="310896"/>
          </a:xfrm>
          <a:prstGeom prst="round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715768"/>
            <a:ext cx="3291840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  <a:latin typeface="Malgun Gothic"/>
              </a:rPr>
              <a:t>② OSM way/node를 GeoJSON과 road graph로 변환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145536"/>
            <a:ext cx="3474720" cy="310896"/>
          </a:xfrm>
          <a:prstGeom prst="round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154680"/>
            <a:ext cx="3291840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  <a:latin typeface="Malgun Gothic"/>
              </a:rPr>
              <a:t>③ 좌표를 3D scene 좌표계로 투영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584448"/>
            <a:ext cx="3474720" cy="310896"/>
          </a:xfrm>
          <a:prstGeom prst="round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3593592"/>
            <a:ext cx="3291840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  <a:latin typeface="Malgun Gothic"/>
              </a:rPr>
              <a:t>④ Three.js에서 도로, 건물, 택시 흐름 렌더링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023360"/>
            <a:ext cx="3474720" cy="310896"/>
          </a:xfrm>
          <a:prstGeom prst="round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032504"/>
            <a:ext cx="3291840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  <a:latin typeface="Malgun Gothic"/>
              </a:rPr>
              <a:t>⑤ Next.js 앱으로 묶어 Cloudflare에 배포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09160" y="1572768"/>
            <a:ext cx="4023360" cy="31546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709160" y="1572768"/>
            <a:ext cx="402336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56048" y="1783080"/>
            <a:ext cx="3291840" cy="32004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algun Gothic"/>
              </a:rPr>
              <a:t>배포 구조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56048" y="2286000"/>
            <a:ext cx="3429000" cy="3474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02352" y="2313432"/>
            <a:ext cx="960120" cy="2560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050" b="1">
                <a:solidFill>
                  <a:srgbClr val="3B82F6"/>
                </a:solidFill>
                <a:latin typeface="Malgun Gothic"/>
              </a:rPr>
              <a:t>GitHub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08192" y="2313432"/>
            <a:ext cx="1965960" cy="2560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Malgun Gothic"/>
              </a:rPr>
              <a:t>main push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56048" y="2788920"/>
            <a:ext cx="3429000" cy="3474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02352" y="2816351"/>
            <a:ext cx="960120" cy="2560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050" b="1">
                <a:solidFill>
                  <a:srgbClr val="3B82F6"/>
                </a:solidFill>
                <a:latin typeface="Malgun Gothic"/>
              </a:rPr>
              <a:t>Cloudflare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08192" y="2816351"/>
            <a:ext cx="1965960" cy="2560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Malgun Gothic"/>
              </a:rPr>
              <a:t>자동 build/deploy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56048" y="3291840"/>
            <a:ext cx="3429000" cy="3474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02352" y="3319272"/>
            <a:ext cx="960120" cy="2560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050" b="1">
                <a:solidFill>
                  <a:srgbClr val="3B82F6"/>
                </a:solidFill>
                <a:latin typeface="Malgun Gothic"/>
              </a:rPr>
              <a:t>브라우저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08192" y="3319272"/>
            <a:ext cx="1965960" cy="2560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Malgun Gothic"/>
              </a:rPr>
              <a:t>URL로 즉시 시연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956048" y="3794760"/>
            <a:ext cx="3429000" cy="3474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02352" y="3822192"/>
            <a:ext cx="960120" cy="2560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050" b="1">
                <a:solidFill>
                  <a:srgbClr val="3B82F6"/>
                </a:solidFill>
                <a:latin typeface="Malgun Gothic"/>
              </a:rPr>
              <a:t>발표 페이지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08192" y="3822192"/>
            <a:ext cx="1965960" cy="2560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Malgun Gothic"/>
              </a:rPr>
              <a:t>/presentation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4206240" cy="32004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역삼 택시  · 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"/>
            <a:ext cx="2560320" cy="32004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</a:rPr>
              <a:t>데이터 수집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68096"/>
            <a:ext cx="8229600" cy="47548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데이터 수집 개선: 생활인구 proxy에서 대중교통 proxy로 확장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719072"/>
            <a:ext cx="8321040" cy="512064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792224"/>
            <a:ext cx="2011680" cy="29260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Malgun Gothic"/>
              </a:rPr>
              <a:t>서울시 대중교통 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1792224"/>
            <a:ext cx="2834640" cy="29260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Malgun Gothic"/>
              </a:rPr>
              <a:t>2024~2025 행정동별 시간대 승차량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1792224"/>
            <a:ext cx="2331720" cy="29260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  <a:latin typeface="Malgun Gothic"/>
              </a:rPr>
              <a:t>예측 target, lag feature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377439"/>
            <a:ext cx="8321040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450591"/>
            <a:ext cx="2011680" cy="29260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Malgun Gothic"/>
              </a:rPr>
              <a:t>행정동 마스터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450591"/>
            <a:ext cx="2834640" cy="29260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Malgun Gothic"/>
              </a:rPr>
              <a:t>행정동 코드와 이름 매핑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450591"/>
            <a:ext cx="2331720" cy="29260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  <a:latin typeface="Malgun Gothic"/>
              </a:rPr>
              <a:t>강남 9개 동 필터링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035808"/>
            <a:ext cx="8321040" cy="512064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08960"/>
            <a:ext cx="2011680" cy="29260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Malgun Gothic"/>
              </a:rPr>
              <a:t>기상청 ASOS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3108960"/>
            <a:ext cx="2834640" cy="29260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Malgun Gothic"/>
              </a:rPr>
              <a:t>기온, 강수, 습도, 풍속, 적설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3108960"/>
            <a:ext cx="2331720" cy="29260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  <a:latin typeface="Malgun Gothic"/>
              </a:rPr>
              <a:t>날씨 feature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694176"/>
            <a:ext cx="8321040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767328"/>
            <a:ext cx="2011680" cy="29260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Malgun Gothic"/>
              </a:rPr>
              <a:t>특일 정보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3767328"/>
            <a:ext cx="2834640" cy="29260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Malgun Gothic"/>
              </a:rPr>
              <a:t>공휴일, 공휴일 전날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60" y="3767328"/>
            <a:ext cx="2331720" cy="29260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  <a:latin typeface="Malgun Gothic"/>
              </a:rPr>
              <a:t>휴일 feature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526280"/>
            <a:ext cx="8321040" cy="329184"/>
          </a:xfrm>
          <a:prstGeom prst="round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590288"/>
            <a:ext cx="7955279" cy="20116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Malgun Gothic"/>
              </a:rPr>
              <a:t>처리 흐름  ·  시간 기준 정렬 → 강남 9개 동 필터링 → 날씨/휴일 join → lag feature 생성 → Colab 학습용 CSV export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4206240" cy="32004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역삼 택시  · 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"/>
            <a:ext cx="2560320" cy="32004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</a:rPr>
              <a:t>학습 데이터셋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68096"/>
            <a:ext cx="8229600" cy="47548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학습 데이터셋과 예측 대상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261872"/>
            <a:ext cx="8229600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Malgun Gothic"/>
              </a:rPr>
              <a:t>택시 호출량이 아니라 대중교통 승차량을 이동 수요 proxy로 사용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" y="1627632"/>
            <a:ext cx="1874519" cy="10058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627632"/>
            <a:ext cx="1874519" cy="9144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3" y="1828800"/>
            <a:ext cx="155448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2200" b="1">
                <a:solidFill>
                  <a:srgbClr val="1A1A1A"/>
                </a:solidFill>
                <a:latin typeface="Malgun Gothic"/>
              </a:rPr>
              <a:t>153,783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3" y="2212848"/>
            <a:ext cx="1554480" cy="20116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950" b="0">
                <a:solidFill>
                  <a:srgbClr val="5C5C5C"/>
                </a:solidFill>
                <a:latin typeface="Malgun Gothic"/>
              </a:rPr>
              <a:t>학습 row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87752" y="1627632"/>
            <a:ext cx="1874519" cy="10058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87752" y="1627632"/>
            <a:ext cx="1874519" cy="9144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2344" y="1828800"/>
            <a:ext cx="155448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2200" b="1">
                <a:solidFill>
                  <a:srgbClr val="1A1A1A"/>
                </a:solidFill>
                <a:latin typeface="Malgun Gothic"/>
              </a:rPr>
              <a:t>712일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52344" y="2212848"/>
            <a:ext cx="1554480" cy="20116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950" b="0">
                <a:solidFill>
                  <a:srgbClr val="5C5C5C"/>
                </a:solidFill>
                <a:latin typeface="Malgun Gothic"/>
              </a:rPr>
              <a:t>분석 날짜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6592" y="1627632"/>
            <a:ext cx="1874519" cy="10058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36592" y="1627632"/>
            <a:ext cx="1874519" cy="9144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01183" y="1828800"/>
            <a:ext cx="155448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2200" b="1">
                <a:solidFill>
                  <a:srgbClr val="1A1A1A"/>
                </a:solidFill>
                <a:latin typeface="Malgun Gothic"/>
              </a:rPr>
              <a:t>9개 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01183" y="2212848"/>
            <a:ext cx="1554480" cy="20116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950" b="0">
                <a:solidFill>
                  <a:srgbClr val="5C5C5C"/>
                </a:solidFill>
                <a:latin typeface="Malgun Gothic"/>
              </a:rPr>
              <a:t>예측 단위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85432" y="1627632"/>
            <a:ext cx="1874519" cy="10058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85432" y="1627632"/>
            <a:ext cx="1874519" cy="9144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0024" y="1828800"/>
            <a:ext cx="155448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2200" b="1">
                <a:solidFill>
                  <a:srgbClr val="1A1A1A"/>
                </a:solidFill>
                <a:latin typeface="Malgun Gothic"/>
              </a:rPr>
              <a:t>1시간 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0024" y="2212848"/>
            <a:ext cx="1554480" cy="20116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950" b="0">
                <a:solidFill>
                  <a:srgbClr val="5C5C5C"/>
                </a:solidFill>
                <a:latin typeface="Malgun Gothic"/>
              </a:rPr>
              <a:t>예측 horizon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912" y="3063240"/>
            <a:ext cx="4023360" cy="1298448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8912" y="3063240"/>
            <a:ext cx="402336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3246120"/>
            <a:ext cx="1463040" cy="2560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algun Gothic"/>
              </a:rPr>
              <a:t>입력 feature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547872"/>
            <a:ext cx="3383280" cy="65836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1F2937"/>
                </a:solidFill>
                <a:latin typeface="Malgun Gothic"/>
              </a:rPr>
              <a:t>• 동, 시간, 요일, 주말 여부
• 현재/직전/전날/전주 같은 시간 수요
• 기온, 강수량, 적설, 습도, 풍속
• 공휴일, 공휴일 전날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73168" y="3063240"/>
            <a:ext cx="3840480" cy="1298448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773168" y="3063240"/>
            <a:ext cx="3840480" cy="9144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0" y="3246120"/>
            <a:ext cx="1097280" cy="2560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algun Gothic"/>
              </a:rPr>
              <a:t>Target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3611880"/>
            <a:ext cx="2834640" cy="43891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algun Gothic"/>
              </a:rPr>
              <a:t>각 시점에서 1시간 뒤
동별 대중교통 승차량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4206240" cy="32004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역삼 택시  · 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"/>
            <a:ext cx="2560320" cy="32004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</a:rPr>
              <a:t>모델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68096"/>
            <a:ext cx="8229600" cy="47548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테스트 구간 실제값 vs 예측값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261872"/>
            <a:ext cx="8229600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Malgun Gothic"/>
              </a:rPr>
              <a:t>각 시점의 1시간 뒤 대중교통 승차량을 실제값과 예측값으로 비교</a:t>
            </a:r>
          </a:p>
        </p:txBody>
      </p:sp>
      <p:pic>
        <p:nvPicPr>
          <p:cNvPr id="8" name="Picture 7" descr="06_model_metrics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72768"/>
            <a:ext cx="4160520" cy="2548318"/>
          </a:xfrm>
          <a:prstGeom prst="rect">
            <a:avLst/>
          </a:prstGeom>
        </p:spPr>
      </p:pic>
      <p:pic>
        <p:nvPicPr>
          <p:cNvPr id="9" name="Picture 8" descr="07_actual_vs_predicted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5152" y="1572768"/>
            <a:ext cx="4160520" cy="254831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38912" y="4526280"/>
            <a:ext cx="8247888" cy="329184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590288"/>
            <a:ext cx="7909560" cy="20116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919" b="1">
                <a:solidFill>
                  <a:srgbClr val="1A1A1A"/>
                </a:solidFill>
                <a:latin typeface="Malgun Gothic"/>
              </a:rPr>
              <a:t>해석: x축은 실제 대중교통 승차량, y축은 예측 대중교통 승차량입니다. 점이 대각선에 가까울수록 실제값과 예측값이 가깝습니다.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4206240" cy="32004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역삼 택시  · 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"/>
            <a:ext cx="2560320" cy="32004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</a:rPr>
              <a:t>서비스 연결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68096"/>
            <a:ext cx="8229600" cy="47548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사이트에 붙인 결과와 다음 연결 방향</a:t>
            </a:r>
          </a:p>
        </p:txBody>
      </p:sp>
      <p:pic>
        <p:nvPicPr>
          <p:cNvPr id="7" name="Picture 6" descr="08_prediction_timeseries_s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27632"/>
            <a:ext cx="4389120" cy="268833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74920" y="1627632"/>
            <a:ext cx="3611880" cy="27889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74920" y="1627632"/>
            <a:ext cx="3611880" cy="9144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21808" y="1828800"/>
            <a:ext cx="1554480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algun Gothic"/>
              </a:rPr>
              <a:t>현재 반영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21808" y="2212848"/>
            <a:ext cx="2926080" cy="100584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2937"/>
                </a:solidFill>
                <a:latin typeface="Malgun Gothic"/>
              </a:rPr>
              <a:t>• 메인 지도 상단에 발표 자료 버튼 추가
• /presentation에 데이터 출처와 모델 결과 정리
• PPT 다운로드 링크 연결
• Cloudflare 배포용 asset은 가볍게 유지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21808" y="3456432"/>
            <a:ext cx="1554480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500" b="1">
                <a:solidFill>
                  <a:srgbClr val="3B82F6"/>
                </a:solidFill>
                <a:latin typeface="Malgun Gothic"/>
              </a:rPr>
              <a:t>다음 단계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21808" y="3840480"/>
            <a:ext cx="2926080" cy="8229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2937"/>
                </a:solidFill>
                <a:latin typeface="Malgun Gothic"/>
              </a:rPr>
              <a:t>• 지도 위 동별 수요 색상/랭킹 overlay
• 실시간 citydata와 예측값을 함께 표시
• 실제 호출 데이터 확보 시 proxy 보정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4206240" cy="32004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역삼 택시  · 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"/>
            <a:ext cx="2560320" cy="32004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</a:rPr>
              <a:t>한계와 다음 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68096"/>
            <a:ext cx="8229600" cy="47548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한계와 다음 개선점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664208"/>
            <a:ext cx="2514600" cy="29718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64208"/>
            <a:ext cx="251460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901952"/>
            <a:ext cx="1645920" cy="41148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938528"/>
            <a:ext cx="1499616" cy="33832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한계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2606040"/>
            <a:ext cx="2011680" cy="1417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2937"/>
                </a:solidFill>
                <a:latin typeface="Malgun Gothic"/>
              </a:rPr>
              <a:t>• 실제 택시 호출량 데이터가 아님
• 대중교통 수요와 택시 수요는 완전히 같지 않음
• 현재 결과는 이동 수요 proxy로 해석해야 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1664208"/>
            <a:ext cx="2514600" cy="29718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0" y="1664208"/>
            <a:ext cx="2514600" cy="9144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11880" y="1901952"/>
            <a:ext cx="1645920" cy="41148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85032" y="1938528"/>
            <a:ext cx="1499616" cy="33832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다음 개선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6432" y="2606040"/>
            <a:ext cx="2011680" cy="1417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2937"/>
                </a:solidFill>
                <a:latin typeface="Malgun Gothic"/>
              </a:rPr>
              <a:t>• 실제 호출/승하차 데이터 확보 시 보정
• 5분·15분 단위 예측으로 확장
• 지도에서 수요와 신뢰도를 함께 표시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89320" y="1664208"/>
            <a:ext cx="2514600" cy="29718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89320" y="1664208"/>
            <a:ext cx="2514600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1645920" cy="41148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1938528"/>
            <a:ext cx="1499616" cy="33832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중간 결론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2606040"/>
            <a:ext cx="2011680" cy="1417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2937"/>
                </a:solidFill>
                <a:latin typeface="Malgun Gothic"/>
              </a:rPr>
              <a:t>• 공개 데이터만으로도 수요 신호를 만들 수 있음
• 수집→전처리→학습→서비스 연결 흐름 확보
• 웹 기반 시연 환경까지 연결 완료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645152"/>
            <a:ext cx="7955279" cy="20116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919" b="1">
                <a:solidFill>
                  <a:srgbClr val="1A1A1A"/>
                </a:solidFill>
                <a:latin typeface="Malgun Gothic"/>
              </a:rPr>
              <a:t>마무리: 완성된 택시 수요 모델이라기보다, 공개 데이터로 근미래 이동 수요 신호를 만들고 서비스에 연결할 수 있음을 검증한 단계입니다.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0" y="0"/>
            <a:ext cx="2743200" cy="51435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5486400" cy="100584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3400" b="1">
                <a:solidFill>
                  <a:srgbClr val="1A1A1A"/>
                </a:solidFill>
                <a:latin typeface="Malgun Gothic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57400"/>
            <a:ext cx="5486400" cy="4114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500" b="0">
                <a:solidFill>
                  <a:srgbClr val="5C5C5C"/>
                </a:solidFill>
                <a:latin typeface="Malgun Gothic"/>
              </a:rPr>
              <a:t>역삼동 · Digital Twin · 공개 데이터 기반 수요 예측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651760"/>
            <a:ext cx="5029200" cy="36576"/>
          </a:xfrm>
          <a:prstGeom prst="rect">
            <a:avLst/>
          </a:prstGeom>
          <a:solidFill>
            <a:srgbClr val="5C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852928"/>
            <a:ext cx="5029200" cy="32004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Malgun Gothic"/>
              </a:rPr>
              <a:t>🔗  github.com/kimcanal/yeoksam-taxi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18688"/>
            <a:ext cx="5029200" cy="32004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Malgun Gothic"/>
              </a:rPr>
              <a:t>🌐  메인 사이트 → A-Eye 발표 자료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828800" cy="6400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