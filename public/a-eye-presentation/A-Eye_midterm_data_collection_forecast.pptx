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63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907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60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5943600" y="64008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kakao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74980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mobility  capstone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역삼동 택시</a:t>
            </a:r>
            <a:endParaRPr lang="en-US" sz="5000" dirty="0"/>
          </a:p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54864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수요 예측 및 동적 배차 시스템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latin typeface="Malgun Gothic"/>
              </a:rPr>
              <a:t>Three.js  ·  OpenStreetMap  ·  Cloudflare Pages  ·  Colab/scikit-learn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800" b="1">
                <a:latin typeface="Malgun Gothic"/>
              </a:rPr>
              <a:t>발표 흐름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035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프로젝트 개요·변경점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035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1~4: 문제 정의와 명세서 대비 변경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69164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69164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19472" y="17830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919472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웹 구현·배포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58775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5~8: Three.js·OSM·Cloudflare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3108960"/>
            <a:ext cx="3977640" cy="11887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3035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데이터 수집·학습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035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9~11: 공개 데이터와 Colab 모델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108960"/>
            <a:ext cx="3977640" cy="118872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3108960"/>
            <a:ext cx="39776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320040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4919472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500" b="1">
                <a:latin typeface="Malgun Gothic"/>
              </a:rPr>
              <a:t>서비스 연결·다음 단계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19472" y="4005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12~14: 사이트 반영과 개선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무엇을 만들었나요?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5760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6152" y="1737360"/>
            <a:ext cx="914400" cy="914400"/>
          </a:xfrm>
          <a:prstGeom prst="ellipse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1856232"/>
            <a:ext cx="676656" cy="6766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Digital Twin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50">
                <a:latin typeface="Malgun Gothic"/>
              </a:rPr>
              <a:t>역삼동 실제 도로망을</a:t>
            </a:r>
            <a:endParaRPr lang="en-US" sz="1200" dirty="0"/>
          </a:p>
          <a:p>
            <a:pPr algn="ctr"/>
            <a:r>
              <a:rPr sz="1350">
                <a:latin typeface="Malgun Gothic"/>
              </a:rPr>
              <a:t>3D로 가상화한 환경에서</a:t>
            </a:r>
          </a:p>
          <a:p>
            <a:pPr algn="ctr"/>
            <a:r>
              <a:rPr sz="1350">
                <a:latin typeface="Malgun Gothic"/>
              </a:rPr>
              <a:t>이동 수요·배차 시뮬레이션</a:t>
            </a:r>
          </a:p>
        </p:txBody>
      </p:sp>
      <p:sp>
        <p:nvSpPr>
          <p:cNvPr id="13" name="Shape 10"/>
          <p:cNvSpPr/>
          <p:nvPr/>
        </p:nvSpPr>
        <p:spPr>
          <a:xfrm>
            <a:off x="3182112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182112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32504" y="1737360"/>
            <a:ext cx="914400" cy="9144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76" y="1856232"/>
            <a:ext cx="676656" cy="6766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273552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수요 예측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273552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대중교통 승차량 기반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HistGradientBoosting 모델로</a:t>
            </a:r>
          </a:p>
          <a:p>
            <a:pPr algn="ctr"/>
            <a:r>
              <a:rPr sz="1300">
                <a:latin typeface="Malgun Gothic"/>
              </a:rPr>
              <a:t>1시간 뒤 이동 수요 proxy 예측</a:t>
            </a:r>
          </a:p>
        </p:txBody>
      </p:sp>
      <p:sp>
        <p:nvSpPr>
          <p:cNvPr id="19" name="Shape 15"/>
          <p:cNvSpPr/>
          <p:nvPr/>
        </p:nvSpPr>
        <p:spPr>
          <a:xfrm>
            <a:off x="5998464" y="1554480"/>
            <a:ext cx="260604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998464" y="1554480"/>
            <a:ext cx="260604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48856" y="1737360"/>
            <a:ext cx="914400" cy="914400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8" y="1856232"/>
            <a:ext cx="676656" cy="67665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089904" y="2788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 b="1">
                <a:latin typeface="Malgun Gothic"/>
              </a:rPr>
              <a:t>배차 연결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089904" y="3246120"/>
            <a:ext cx="2423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latin typeface="Malgun Gothic"/>
              </a:rPr>
              <a:t>동별 수요 신호를 지도에 연결하고</a:t>
            </a:r>
            <a:endParaRPr lang="en-US" sz="1200" dirty="0"/>
          </a:p>
          <a:p>
            <a:pPr algn="ctr"/>
            <a:r>
              <a:rPr sz="1300">
                <a:latin typeface="Malgun Gothic"/>
              </a:rPr>
              <a:t>향후 실제 호출 데이터 확보 시</a:t>
            </a:r>
          </a:p>
          <a:p>
            <a:pPr algn="ctr"/>
            <a:r>
              <a:rPr sz="1300">
                <a:latin typeface="Malgun Gothic"/>
              </a:rPr>
              <a:t>배차 정책으로 확장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사항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명세서와 다르게 구현한 부분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현실적이고 의미 있는 결과를 위한 의도적 변경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828800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9202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 범위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83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3×3 블럭 추상 격자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19202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역삼동 실제 행정구역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1920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latin typeface="Malgun Gothic"/>
              </a:rPr>
              <a:t>상업·업무 밀집 지역 특성을 반영해 더 현실적인 실험 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542032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33472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633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지도 데이터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8308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추상 3D Map Asset 제공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31920" y="26334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3400" y="263347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OSM 실제 도로 데이터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6334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OpenStreetMap에서 역삼동 노드/엣지 추출 → 실제 도로 위상 반영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3255264"/>
            <a:ext cx="8412480" cy="621792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346704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334670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렌더링 엔진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SUMO / Carla 시뮬레이터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931920" y="3346704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3400" y="334670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Three.js 웹 기반 3D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334670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설치 없이 브라우저에서 바로 시연 가능, 발표·공유 용이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3968496"/>
            <a:ext cx="8412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4059936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0599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8308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로컬 실행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931920" y="4059936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43400" y="4059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Cloudflare Pages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92240" y="405993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팀원·리뷰어 누구나 URL 하나로 즉시 접속 가능한 라이브 데모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구현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Three.js + OpenStreetMap 구현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3931920" cy="33375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3931920" cy="9144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45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51560" y="1709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도로 데이터 파이프라인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212848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212848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CD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Overpass API → 역삼동 bbox 쿼리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697480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697480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Way(도로) 필터링 → highway 태그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182112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Node 좌표 추출 → lat/lon → 3D (x,z)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666744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666744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④ Edge 연결 → 그래프 구조 (NetworkX)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4151376"/>
            <a:ext cx="3566160" cy="402336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151376"/>
            <a:ext cx="3474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⑤ Three.js Line / TubeGeometry 렌더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0" y="1508760"/>
            <a:ext cx="4206240" cy="33375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0" y="1508760"/>
            <a:ext cx="4206240" cy="914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645920"/>
            <a:ext cx="475488" cy="47548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230368" y="17099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시뮬레이션 구성요소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4709160" y="2212848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709160" y="2212848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864608" y="221284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925312" y="2212848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3D 지도 + 조명 설정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709160" y="2697480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09160" y="2697480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864608" y="269748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5925312" y="269748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엣지 → LineSegments 렌더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4709160" y="3182112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709160" y="3182112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864608" y="3182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Taxi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925312" y="3182112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BoxGeometry + 경로 애니메이션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709160" y="3666744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709160" y="3666744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864608" y="3666744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Demand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5925312" y="36667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히트맵 레이어 (수요 시각화)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709160" y="4151376"/>
            <a:ext cx="3840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709160" y="4151376"/>
            <a:ext cx="73152" cy="40233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4864608" y="415137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5925312" y="415137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OrbitControls — 마우스 회전/줌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환경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Cloudflare Pages 배포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누구나 URL 하나로 바로 접속 — 설치 없이 브라우저에서 라이브 데모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" y="2011680"/>
            <a:ext cx="685800" cy="685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Push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브랜치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42316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651760" y="1828800"/>
            <a:ext cx="1828800" cy="1828800"/>
          </a:xfrm>
          <a:prstGeom prst="rect">
            <a:avLst/>
          </a:prstGeom>
          <a:solidFill>
            <a:srgbClr val="F6821F"/>
          </a:solidFill>
          <a:ln w="12700">
            <a:solidFill>
              <a:srgbClr val="F6821F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832" y="2011680"/>
            <a:ext cx="685800" cy="6858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5176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 Pages 빌드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65176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CI/CD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52628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475488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2011680"/>
            <a:ext cx="685800" cy="6858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75488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CDN 글로벌 배포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5488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Network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6629400" y="251460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6858000" y="1828800"/>
            <a:ext cx="1828800" cy="18288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2011680"/>
            <a:ext cx="685800" cy="6858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8000" y="27889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 데모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공유만으로 OK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65760" y="3931920"/>
            <a:ext cx="8412480" cy="68580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65760" y="3931920"/>
            <a:ext cx="73152" cy="6858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39502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이점: 팀원 모두 동일한 환경에서 결과 확인  ·  발표 시 노트북 환경 세팅 불필요  ·  동료 평가자가 URL로 바로 코드·데모 접속  ·  자동 HTTPS · 무료 CDN 글로벌 서빙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역삼 택시  ·  Digital Twin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600" b="1">
                <a:latin typeface="Malgun Gothic"/>
              </a:rPr>
              <a:t>4개 모듈 통합 아키텍처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920240" cy="31546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65760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시뮬레이션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· OSM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역삼동 3D 환경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04288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96312" y="1508760"/>
            <a:ext cx="1920240" cy="315468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96312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96312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96312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700" b="1">
                <a:latin typeface="Malgun Gothic"/>
              </a:rPr>
              <a:t>공개 데이터</a:t>
            </a:r>
            <a:endParaRPr lang="en-US" sz="1400" dirty="0"/>
          </a:p>
          <a:p>
            <a:pPr algn="ctr"/>
            <a:r>
              <a:rPr sz="1700" b="1">
                <a:latin typeface="Malgun Gothic"/>
              </a:rPr>
              <a:t>전처리</a:t>
            </a:r>
          </a:p>
        </p:txBody>
      </p:sp>
      <p:sp>
        <p:nvSpPr>
          <p:cNvPr id="18" name="Shape 16"/>
          <p:cNvSpPr/>
          <p:nvPr/>
        </p:nvSpPr>
        <p:spPr>
          <a:xfrm>
            <a:off x="2633472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96312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50">
                <a:latin typeface="Malgun Gothic"/>
              </a:rPr>
              <a:t>행정동·시간대 정렬</a:t>
            </a:r>
            <a:endParaRPr lang="en-US" sz="1100" dirty="0"/>
          </a:p>
          <a:p>
            <a:pPr algn="ctr"/>
            <a:r>
              <a:rPr sz="1150">
                <a:latin typeface="Malgun Gothic"/>
              </a:rPr>
              <a:t>날씨·휴일·Lag Feature 생성</a:t>
            </a:r>
          </a:p>
        </p:txBody>
      </p:sp>
      <p:sp>
        <p:nvSpPr>
          <p:cNvPr id="20" name="Text 18"/>
          <p:cNvSpPr/>
          <p:nvPr/>
        </p:nvSpPr>
        <p:spPr>
          <a:xfrm>
            <a:off x="443484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26864" y="1508760"/>
            <a:ext cx="1920240" cy="31546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4626864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650" b="1">
                <a:latin typeface="Malgun Gothic"/>
              </a:rPr>
              <a:t>이동 수요 proxy</a:t>
            </a:r>
            <a:endParaRPr lang="en-US" sz="1400" dirty="0"/>
          </a:p>
          <a:p>
            <a:pPr algn="ctr"/>
            <a:r>
              <a:rPr sz="1650" b="1">
                <a:latin typeface="Malgun Gothic"/>
              </a:rPr>
              <a:t>예측 모델</a:t>
            </a:r>
          </a:p>
        </p:txBody>
      </p:sp>
      <p:sp>
        <p:nvSpPr>
          <p:cNvPr id="25" name="Shape 23"/>
          <p:cNvSpPr/>
          <p:nvPr/>
        </p:nvSpPr>
        <p:spPr>
          <a:xfrm>
            <a:off x="4764024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26864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50">
                <a:latin typeface="Malgun Gothic"/>
              </a:rPr>
              <a:t>HistGradientBoosting</a:t>
            </a:r>
            <a:endParaRPr lang="en-US" sz="1100" dirty="0"/>
          </a:p>
          <a:p>
            <a:pPr algn="ctr"/>
            <a:r>
              <a:rPr sz="1150">
                <a:latin typeface="Malgun Gothic"/>
              </a:rPr>
              <a:t>MAE 165.7 · R² 0.985</a:t>
            </a:r>
          </a:p>
        </p:txBody>
      </p:sp>
      <p:sp>
        <p:nvSpPr>
          <p:cNvPr id="27" name="Text 25"/>
          <p:cNvSpPr/>
          <p:nvPr/>
        </p:nvSpPr>
        <p:spPr>
          <a:xfrm>
            <a:off x="6565392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CD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757416" y="1508760"/>
            <a:ext cx="1920240" cy="31546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57416" y="1508760"/>
            <a:ext cx="1920240" cy="109728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57416" y="169164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757416" y="2359152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700" b="1">
                <a:latin typeface="Malgun Gothic"/>
              </a:rPr>
              <a:t>서비스 연결</a:t>
            </a:r>
            <a:endParaRPr lang="en-US" sz="1400" dirty="0"/>
          </a:p>
          <a:p>
            <a:pPr algn="ctr"/>
            <a:r>
              <a:rPr sz="1700" b="1">
                <a:latin typeface="Malgun Gothic"/>
              </a:rPr>
              <a:t>지도 시각화</a:t>
            </a:r>
          </a:p>
        </p:txBody>
      </p:sp>
      <p:sp>
        <p:nvSpPr>
          <p:cNvPr id="32" name="Shape 30"/>
          <p:cNvSpPr/>
          <p:nvPr/>
        </p:nvSpPr>
        <p:spPr>
          <a:xfrm>
            <a:off x="6894576" y="3337560"/>
            <a:ext cx="1645920" cy="36576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7416" y="3456432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30">
                <a:latin typeface="Malgun Gothic"/>
              </a:rPr>
              <a:t>동별 수요 랭킹·색상 overlay</a:t>
            </a:r>
            <a:endParaRPr lang="en-US" sz="1100" dirty="0"/>
          </a:p>
          <a:p>
            <a:pPr algn="ctr"/>
            <a:r>
              <a:rPr sz="1130">
                <a:latin typeface="Malgun Gothic"/>
              </a:rPr>
              <a:t>실제 호출 데이터 확보 시 보정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실제 화면: 브라우저에서 보는 3D 택시 시뮬레이터</a:t>
            </a:r>
          </a:p>
        </p:txBody>
      </p:sp>
      <p:pic>
        <p:nvPicPr>
          <p:cNvPr id="7" name="Picture 6" descr="scenario-baseline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5257800" cy="29575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417320"/>
            <a:ext cx="2697480" cy="30632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989320" y="1417320"/>
            <a:ext cx="26974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36208" y="1700784"/>
            <a:ext cx="18288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algun Gothic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148840"/>
            <a:ext cx="2148840" cy="15087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OSM 기반 도로/건물/행정동 시각화
• 택시와 일반 교통 흐름 애니메이션
• 날씨·시간·수요 시나리오 전환
• 발표 자료 페이지와 바로 연결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986784"/>
            <a:ext cx="2157984" cy="29260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60" y="4050791"/>
            <a:ext cx="2011680" cy="16459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Malgun Gothic"/>
              </a:rPr>
              <a:t>Three.js · Next.js · Cloudflare Pages</a:t>
            </a:r>
          </a:p>
        </p:txBody>
      </p:sp>
    </p:spTree>
    <p:extLst>
      <p:ext uri="{BB962C8B-B14F-4D97-AF65-F5344CB8AC3E}">
        <p14:creationId xmlns:p14="http://schemas.microsoft.com/office/powerpoint/2010/main" val="1914816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데이터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데이터 수집 개선: 생활인구 proxy에서 대중교통 proxy로 확장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19072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서울시 대중교통 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92224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2024~2025 행정동별 시간대 승차량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792224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예측 target, lag feature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377439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450591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행정동 마스터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50591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행정동 코드와 이름 매핑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450591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강남 9개 동 필터링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035808"/>
            <a:ext cx="8321040" cy="51206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3108960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기상청 ASOS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108960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기온, 강수, 습도, 풍속, 적설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108960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날씨 feature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694176"/>
            <a:ext cx="8321040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767328"/>
            <a:ext cx="201168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algun Gothic"/>
              </a:rPr>
              <a:t>특일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67328"/>
            <a:ext cx="283464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algun Gothic"/>
              </a:rPr>
              <a:t>공휴일, 공휴일 전날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767328"/>
            <a:ext cx="2331720" cy="29260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Malgun Gothic"/>
              </a:rPr>
              <a:t>휴일 feature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526280"/>
            <a:ext cx="8321040" cy="329184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590288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Malgun Gothic"/>
              </a:rPr>
              <a:t>처리 흐름  ·  시간 기준 정렬 → 강남 9개 동 필터링 → 날씨/휴일 join → lag feature 생성 → Colab 학습용 CSV export</a:t>
            </a:r>
          </a:p>
        </p:txBody>
      </p:sp>
    </p:spTree>
    <p:extLst>
      <p:ext uri="{BB962C8B-B14F-4D97-AF65-F5344CB8AC3E}">
        <p14:creationId xmlns:p14="http://schemas.microsoft.com/office/powerpoint/2010/main" val="3222342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학습 데이터셋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Malgun Gothic"/>
              </a:rPr>
              <a:t>학습 데이터셋과 예측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200" b="0">
                <a:solidFill>
                  <a:srgbClr val="5C5C5C"/>
                </a:solidFill>
                <a:latin typeface="Malgun Gothic"/>
              </a:rPr>
              <a:t>택시 호출량이 아니라 대중교통 승차량을 이동 수요 proxy로 사용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891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153,783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학습 row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58775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5234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712일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5234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분석 날짜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3659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01183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9개 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1183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단위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85432" y="1627632"/>
            <a:ext cx="1874519" cy="10058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85432" y="1627632"/>
            <a:ext cx="1874519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0024" y="1828800"/>
            <a:ext cx="1554480" cy="32918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2200" b="1">
                <a:solidFill>
                  <a:srgbClr val="1A1A1A"/>
                </a:solidFill>
                <a:latin typeface="Malgun Gothic"/>
              </a:rPr>
              <a:t>1시간 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212848"/>
            <a:ext cx="155448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950" b="0">
                <a:solidFill>
                  <a:srgbClr val="5C5C5C"/>
                </a:solidFill>
                <a:latin typeface="Malgun Gothic"/>
              </a:rPr>
              <a:t>예측 horizon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" y="3063240"/>
            <a:ext cx="402336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8912" y="3063240"/>
            <a:ext cx="402336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246120"/>
            <a:ext cx="146304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입력 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47872"/>
            <a:ext cx="3383280" cy="6583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1F2937"/>
                </a:solidFill>
                <a:latin typeface="Malgun Gothic"/>
              </a:rPr>
              <a:t>• 동, 시간, 요일, 주말 여부
• 현재/직전/전날/전주 같은 시간 수요
• 기온, 강수량, 적설, 습도, 풍속
• 공휴일, 공휴일 전날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73168" y="3063240"/>
            <a:ext cx="3840480" cy="1298448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773168" y="3063240"/>
            <a:ext cx="384048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0" y="3246120"/>
            <a:ext cx="1097280" cy="2560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Target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611880"/>
            <a:ext cx="2834640" cy="43891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각 시점에서 1시간 뒤
동별 대중교통 승차량</a:t>
            </a:r>
          </a:p>
        </p:txBody>
      </p:sp>
    </p:spTree>
    <p:extLst>
      <p:ext uri="{BB962C8B-B14F-4D97-AF65-F5344CB8AC3E}">
        <p14:creationId xmlns:p14="http://schemas.microsoft.com/office/powerpoint/2010/main" val="3307105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모델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500" b="1">
                <a:latin typeface="Malgun Gothic"/>
              </a:rPr>
              <a:t>테스트 구간 실제값 vs 예측값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261872"/>
            <a:ext cx="822960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150">
                <a:solidFill>
                  <a:srgbClr val="4B5563"/>
                </a:solidFill>
                <a:latin typeface="Malgun Gothic"/>
              </a:rPr>
              <a:t>모델: HistGradientBoostingRegressor / Target: 1시간 뒤 동별 대중교통 승차량</a:t>
            </a:r>
          </a:p>
        </p:txBody>
      </p:sp>
      <p:pic>
        <p:nvPicPr>
          <p:cNvPr id="8" name="Picture 7" descr="06_model_metric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72768"/>
            <a:ext cx="4160520" cy="2548318"/>
          </a:xfrm>
          <a:prstGeom prst="rect">
            <a:avLst/>
          </a:prstGeom>
        </p:spPr>
      </p:pic>
      <p:pic>
        <p:nvPicPr>
          <p:cNvPr id="9" name="Picture 8" descr="07_actual_vs_predicte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572768"/>
            <a:ext cx="4160520" cy="254831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912" y="4526280"/>
            <a:ext cx="8247888" cy="329184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4590288"/>
            <a:ext cx="7909560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>
                <a:solidFill>
                  <a:srgbClr val="1F2937"/>
                </a:solidFill>
                <a:latin typeface="Malgun Gothic"/>
              </a:rPr>
              <a:t>Test 결과: MAE 165.7명, RMSE 393.7명, R² 0.9854.  x축은 실제 대중교통 승차량, y축은 예측값입니다.</a:t>
            </a:r>
          </a:p>
          <a:p>
            <a:pPr algn="l"/>
            <a:r>
              <a:rPr sz="919">
                <a:solidFill>
                  <a:srgbClr val="1F2937"/>
                </a:solidFill>
                <a:latin typeface="Malgun Gothic"/>
              </a:rPr>
              <a:t>출처: Colab 산출물 transit_test_predictions.csv / transit_model_metrics.json</a:t>
            </a:r>
          </a:p>
        </p:txBody>
      </p:sp>
    </p:spTree>
    <p:extLst>
      <p:ext uri="{BB962C8B-B14F-4D97-AF65-F5344CB8AC3E}">
        <p14:creationId xmlns:p14="http://schemas.microsoft.com/office/powerpoint/2010/main" val="1168389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서비스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400" b="1">
                <a:latin typeface="Malgun Gothic"/>
              </a:rPr>
              <a:t>사이트에 붙인 결과와 다음 연결 방향</a:t>
            </a:r>
          </a:p>
        </p:txBody>
      </p:sp>
      <p:pic>
        <p:nvPicPr>
          <p:cNvPr id="7" name="Picture 6" descr="08_prediction_timeseri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7632"/>
            <a:ext cx="4389120" cy="2688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74920" y="1627632"/>
            <a:ext cx="3611880" cy="27889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74920" y="1627632"/>
            <a:ext cx="3611880" cy="9144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21808" y="1828800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algun Gothic"/>
              </a:rPr>
              <a:t>현재 반영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12848"/>
            <a:ext cx="2926080" cy="10058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40">
                <a:latin typeface="Malgun Gothic"/>
              </a:rPr>
              <a:t>• 메인 지도 상단에 발표 자료 버튼 추가</a:t>
            </a:r>
          </a:p>
          <a:p>
            <a:pPr algn="l"/>
            <a:r>
              <a:rPr sz="1040">
                <a:latin typeface="Malgun Gothic"/>
              </a:rPr>
              <a:t>• /presentation에 데이터 출처와 모델 결과 정리</a:t>
            </a:r>
          </a:p>
          <a:p>
            <a:pPr algn="l"/>
            <a:r>
              <a:rPr sz="1040">
                <a:latin typeface="Malgun Gothic"/>
              </a:rPr>
              <a:t>• PPT 다운로드 링크 연결</a:t>
            </a:r>
          </a:p>
          <a:p>
            <a:pPr algn="l"/>
            <a:r>
              <a:rPr sz="1040">
                <a:latin typeface="Malgun Gothic"/>
              </a:rPr>
              <a:t>• Cloudflare 배포용 asset은 가볍게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8" y="3456432"/>
            <a:ext cx="1554480" cy="274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Malgun Gothic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3840480"/>
            <a:ext cx="2926080" cy="8229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40">
                <a:latin typeface="Malgun Gothic"/>
              </a:rPr>
              <a:t>• 지도 위 동별 수요 색상/랭킹 overlay</a:t>
            </a:r>
          </a:p>
          <a:p>
            <a:pPr algn="l"/>
            <a:r>
              <a:rPr sz="1040">
                <a:latin typeface="Malgun Gothic"/>
              </a:rPr>
              <a:t>• 실시간 citydata와 예측값을 함께 표시</a:t>
            </a:r>
          </a:p>
          <a:p>
            <a:pPr algn="l"/>
            <a:r>
              <a:rPr sz="1040">
                <a:latin typeface="Malgun Gothic"/>
              </a:rPr>
              <a:t>• 실제 택시 호출 데이터 확보 시 proxy 보정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50000"/>
            <a:ext cx="438912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869">
                <a:solidFill>
                  <a:srgbClr val="4B5563"/>
                </a:solidFill>
                <a:latin typeface="Malgun Gothic"/>
              </a:rPr>
              <a:t>이미지 설명: Colab 결과를 발표용으로 정리한 웹 화면입니다.</a:t>
            </a:r>
          </a:p>
          <a:p>
            <a:r>
              <a:rPr sz="869">
                <a:solidFill>
                  <a:srgbClr val="4B5563"/>
                </a:solidFill>
                <a:latin typeface="Malgun Gothic"/>
              </a:rPr>
              <a:t>현재 예측값은 실제 택시 호출량이 아니라 대중교통 승차량 기반 proxy입니다.</a:t>
            </a:r>
          </a:p>
        </p:txBody>
      </p:sp>
    </p:spTree>
    <p:extLst>
      <p:ext uri="{BB962C8B-B14F-4D97-AF65-F5344CB8AC3E}">
        <p14:creationId xmlns:p14="http://schemas.microsoft.com/office/powerpoint/2010/main" val="301695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420624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algun Gothic"/>
              </a:rPr>
              <a:t>역삼 택시  ·  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9728"/>
            <a:ext cx="2560320" cy="3200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68096"/>
            <a:ext cx="8229600" cy="4754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2500" b="1">
                <a:latin typeface="Malgun Gothic"/>
              </a:rPr>
              <a:t>한계와 다음 개선점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64208"/>
            <a:ext cx="2514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22960" y="1901952"/>
            <a:ext cx="1645920" cy="4114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60">
                <a:latin typeface="Malgun Gothic"/>
              </a:rPr>
              <a:t>• 실제 택시 호출량 데이터가 아님</a:t>
            </a:r>
          </a:p>
          <a:p>
            <a:pPr algn="l"/>
            <a:r>
              <a:rPr sz="1060">
                <a:latin typeface="Malgun Gothic"/>
              </a:rPr>
              <a:t>• 대중교통 수요와 택시 수요는 완전히 같지 않음</a:t>
            </a:r>
          </a:p>
          <a:p>
            <a:pPr algn="l"/>
            <a:r>
              <a:rPr sz="1060">
                <a:latin typeface="Malgun Gothic"/>
              </a:rPr>
              <a:t>• 현재 결과는 이동 수요 proxy로 해석해야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00400" y="1664208"/>
            <a:ext cx="25146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11880" y="1901952"/>
            <a:ext cx="1645920" cy="41148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8503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다음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60">
                <a:latin typeface="Malgun Gothic"/>
              </a:rPr>
              <a:t>• 실제 호출/승하차 데이터 확보 시 보정</a:t>
            </a:r>
          </a:p>
          <a:p>
            <a:pPr algn="l"/>
            <a:r>
              <a:rPr sz="1060">
                <a:latin typeface="Malgun Gothic"/>
              </a:rPr>
              <a:t>• 5분·15분 단위 예측으로 확장</a:t>
            </a:r>
          </a:p>
          <a:p>
            <a:pPr algn="l"/>
            <a:r>
              <a:rPr sz="1060">
                <a:latin typeface="Malgun Gothic"/>
              </a:rPr>
              <a:t>• 지도에서 수요와 신뢰도를 함께 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89320" y="1664208"/>
            <a:ext cx="2514600" cy="2971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89320" y="1664208"/>
            <a:ext cx="25146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0" y="1901952"/>
            <a:ext cx="164592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3952" y="1938528"/>
            <a:ext cx="1499616" cy="3383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중간 결론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2606040"/>
            <a:ext cx="2011680" cy="141732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2937"/>
                </a:solidFill>
                <a:latin typeface="Malgun Gothic"/>
              </a:rPr>
              <a:t>• 공개 데이터만으로도 수요 신호를 만들 수 있음
• 수집→전처리→학습→서비스 연결 흐름 확보
• 웹 기반 시연 환경까지 연결 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7955279" cy="20116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/>
            <a:r>
              <a:rPr sz="919" b="1">
                <a:solidFill>
                  <a:srgbClr val="1A1A1A"/>
                </a:solidFill>
                <a:latin typeface="Malgun Gothic"/>
              </a:rPr>
              <a:t>마무리: 완성된 택시 수요 모델이라기보다, 공개 데이터로 근미래 이동 수요 신호를 만들고 서비스에 연결할 수 있음을 검증한 단계입니다.</a:t>
            </a:r>
          </a:p>
        </p:txBody>
      </p:sp>
    </p:spTree>
    <p:extLst>
      <p:ext uri="{BB962C8B-B14F-4D97-AF65-F5344CB8AC3E}">
        <p14:creationId xmlns:p14="http://schemas.microsoft.com/office/powerpoint/2010/main" val="18905670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FFCD00"/>
          </a:solidFill>
          <a:ln w="12700">
            <a:solidFill>
              <a:srgbClr val="FFCD00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097280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548640" y="2057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>
                <a:latin typeface="Malgun Gothic"/>
              </a:rPr>
              <a:t>역삼동 · Digital Twin · 이동 수요 proxy 예측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651760"/>
            <a:ext cx="5029200" cy="36576"/>
          </a:xfrm>
          <a:prstGeom prst="rect">
            <a:avLst/>
          </a:prstGeom>
          <a:solidFill>
            <a:srgbClr val="5C5C5C"/>
          </a:solidFill>
          <a:ln w="12700">
            <a:solidFill>
              <a:srgbClr val="5C5C5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283464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github.com/kimcanal/yeoksam-taxi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21868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(배포 URL)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840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CD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Q&amp;A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976</Words>
  <Application>Microsoft Office PowerPoint</Application>
  <PresentationFormat>화면 슬라이드 쇼(16:9)</PresentationFormat>
  <Paragraphs>195</Paragraphs>
  <Slides>14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9" baseType="lpstr">
      <vt:lpstr>Malgun Gothic</vt:lpstr>
      <vt:lpstr>Arial</vt:lpstr>
      <vt:lpstr>Arial Black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역삼 택시 Digital Twin</dc:title>
  <dc:subject>PptxGenJS Presentation</dc:subject>
  <dc:creator>PptxGenJS</dc:creator>
  <cp:lastModifiedBy>김윤하</cp:lastModifiedBy>
  <cp:revision>2</cp:revision>
  <dcterms:created xsi:type="dcterms:W3CDTF">2026-05-03T15:52:41Z</dcterms:created>
  <dcterms:modified xsi:type="dcterms:W3CDTF">2026-05-03T16:44:57Z</dcterms:modified>
</cp:coreProperties>
</file>