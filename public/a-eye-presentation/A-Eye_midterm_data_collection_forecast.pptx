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68" r:id="rId13"/>
    <p:sldId id="269" r:id="rId14"/>
    <p:sldId id="263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3" d="100"/>
          <a:sy n="143" d="100"/>
        </p:scale>
        <p:origin x="64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49074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56099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.png"/><Relationship Id="rId6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5943600" y="640080"/>
            <a:ext cx="2743200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3657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Kakao mobility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74980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kern="0" spc="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서강대학교 </a:t>
            </a:r>
            <a:r>
              <a:rPr lang="ko-KR" altLang="en-US" sz="1200" kern="0" spc="300" dirty="0" err="1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캡스톤디자인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1371600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역삼동 택시</a:t>
            </a:r>
            <a:endParaRPr lang="en-US" sz="5000" dirty="0"/>
          </a:p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Digital Twin</a:t>
            </a:r>
            <a:endParaRPr lang="en-US" sz="5000" dirty="0"/>
          </a:p>
        </p:txBody>
      </p:sp>
      <p:sp>
        <p:nvSpPr>
          <p:cNvPr id="8" name="Text 5"/>
          <p:cNvSpPr/>
          <p:nvPr/>
        </p:nvSpPr>
        <p:spPr>
          <a:xfrm>
            <a:off x="548640" y="32918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수요 예측 및 동적 배차 시스템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48640" y="46634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latin typeface="Malgun Gothic"/>
              </a:rPr>
              <a:t>Track 3 AI 5</a:t>
            </a:r>
            <a:r>
              <a:rPr lang="ko-KR" altLang="en-US" sz="1300" dirty="0">
                <a:latin typeface="Malgun Gothic"/>
              </a:rPr>
              <a:t>조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ns0:sld xmlns:ns0="http://schemas.openxmlformats.org/presentationml/2006/main" xmlns:ns1="http://schemas.openxmlformats.org/drawingml/2006/main">
  <ns0:cSld name="Slide 2">
    <ns0:bg>
      <ns0:bgPr>
        <ns1:solidFill>
          <ns1:srgbClr val="FFFFFF"/>
        </ns1:solidFill>
        <ns1:effectLst/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hape 0"/>
          <ns0:cNvSpPr/>
          <ns0:nvPr/>
        </ns0:nvSpPr>
        <ns0:spPr>
          <ns1:xfrm>
            <ns1:off x="0" y="0"/>
            <ns1:ext cx="9144000" cy="594360"/>
          </ns1:xfrm>
          <ns1:prstGeom prst="rect">
            <ns1:avLst/>
          </ns1:prstGeom>
          <ns1:solidFill>
            <ns1:srgbClr val="1A1A1A"/>
          </ns1:solidFill>
          <ns1:ln w="12700">
            <ns1:solidFill>
              <ns1:srgbClr val="1A1A1A"/>
            </ns1:solidFill>
            <ns1:prstDash val="solid"/>
          </ns1:ln>
        </ns0:spPr>
        <ns0:txBody>
          <ns1:bodyPr/>
          <ns1:lstStyle/>
          <ns1:p>
            <ns1:endParaRPr lang="ko-KR" altLang="en-US"/>
          </ns1:p>
        </ns0:txBody>
      </ns0:sp>
      <ns0:sp>
        <ns0:nvSpPr>
          <ns0:cNvPr id="3" name="Text 1"/>
          <ns0:cNvSpPr/>
          <ns0:nvPr/>
        </ns0:nvSpPr>
        <ns0:spPr>
          <ns1:xfrm>
            <ns1:off x="365760" y="91440"/>
            <ns1:ext cx="4572000" cy="4114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lang="en-US" sz="1300" b="1" dirty="0">
                <ns1:solidFill>
                  <ns1:srgbClr val="FFCD00"/>
                </ns1:solidFill>
                <ns1:latin typeface="Arial Black" pitchFamily="34" charset="0"/>
                <ns1:ea typeface="Arial Black" pitchFamily="34" charset="-122"/>
                <ns1:cs typeface="Arial Black" pitchFamily="34" charset="-120"/>
              </ns1:rPr>
              <ns1:t>역삼 택시  ·  Digital Twin</ns1:t>
            </ns1:r>
            <ns1:endParaRPr lang="en-US" sz="1300" dirty="0"/>
          </ns1:p>
        </ns0:txBody>
      </ns0:sp>
      <ns0:sp>
        <ns0:nvSpPr>
          <ns0:cNvPr id="4" name="Text 2"/>
          <ns0:cNvSpPr/>
          <ns0:nvPr/>
        </ns0:nvSpPr>
        <ns0:spPr>
          <ns1:xfrm>
            <ns1:off x="6400800" y="91440"/>
            <ns1:ext cx="2560320" cy="4114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 algn="r">
              <ns1:buNone/>
            </ns1:pPr>
            <ns1:r>
              <ns1:rPr lang="en-US" sz="1200" dirty="0">
                <ns1:solidFill>
                  <ns1:srgbClr val="FFFFFF"/>
                </ns1:solidFill>
                <ns1:latin typeface="Arial" pitchFamily="34" charset="0"/>
                <ns1:ea typeface="Arial" pitchFamily="34" charset="-122"/>
                <ns1:cs typeface="Arial" pitchFamily="34" charset="-120"/>
              </ns1:rPr>
              <ns1:t>목차</ns1:t>
            </ns1:r>
            <ns1:endParaRPr lang="en-US" sz="1200" dirty="0"/>
          </ns1:p>
        </ns0:txBody>
      </ns0:sp>
      <ns0:sp>
        <ns0:nvSpPr>
          <ns0:cNvPr id="5" name="Shape 3"/>
          <ns0:cNvSpPr/>
          <ns0:nvPr/>
        </ns0:nvSpPr>
        <ns0:spPr>
          <ns1:xfrm>
            <ns1:off x="0" y="4892040"/>
            <ns1:ext cx="9144000" cy="256032"/>
          </ns1:xfrm>
          <ns1:prstGeom prst="rect">
            <ns1:avLst/>
          </ns1:prstGeom>
          <ns1:solidFill>
            <ns1:srgbClr val="FFCD00"/>
          </ns1:solidFill>
          <ns1:ln w="12700">
            <ns1:solidFill>
              <ns1:srgbClr val="FFCD00"/>
            </ns1:solidFill>
            <ns1:prstDash val="solid"/>
          </ns1:ln>
        </ns0:spPr>
        <ns0:txBody>
          <ns1:bodyPr/>
          <ns1:lstStyle/>
          <ns1:p>
            <ns1:endParaRPr lang="ko-KR" altLang="en-US"/>
          </ns1:p>
        </ns0:txBody>
      </ns0:sp>
      <ns0:sp>
        <ns0:nvSpPr>
          <ns0:cNvPr id="6" name="Text 4"/>
          <ns0:cNvSpPr/>
          <ns0:nvPr/>
        </ns0:nvSpPr>
        <ns0:spPr>
          <ns1:xfrm>
            <ns1:off x="457200" y="777240"/>
            <ns1:ext cx="8229600" cy="6400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sz="2800" b="1">
                <ns1:solidFill>
                  <ns1:srgbClr val="1A1A1A"/>
                </ns1:solidFill>
                <ns1:latin typeface="Malgun Gothic"/>
              </ns1:rPr>
              <ns1:t>발표 흐름</ns1:t>
            </ns1:r>
            <ns1:endParaRPr lang="en-US" sz="3000" dirty="0"/>
          </ns1:p>
        </ns0:txBody>
      </ns0:sp>
      <ns0:sp>
        <ns0:nvSpPr>
          <ns0:cNvPr id="7" name="Shape 5"/>
          <ns0:cNvSpPr/>
          <ns0:nvPr/>
        </ns0:nvSpPr>
        <ns0:spPr>
          <ns1:xfrm>
            <ns1:off x="365760" y="1691640"/>
            <ns1:ext cx="3977640" cy="1188720"/>
          </ns1:xfrm>
          <ns1:prstGeom prst="rect">
            <ns1:avLst/>
          </ns1:prstGeom>
          <ns1:solidFill>
            <ns1:srgbClr val="1A1A1A"/>
          </ns1:solidFill>
          <ns1:ln w="12700">
            <ns1:solidFill>
              <ns1:srgbClr val="1A1A1A"/>
            </ns1:solidFill>
            <ns1:prstDash val="solid"/>
          </ns1:ln>
          <ns1:effectLst>
            <ns1:outerShdw blurRad="101600" dist="25400" dir="8100000" algn="bl" rotWithShape="0">
              <ns1:srgbClr val="000000">
                <ns1:alpha val="12000"/>
              </ns1:srgbClr>
            </ns1:outerShdw>
          </ns1:effectLst>
        </ns0:spPr>
        <ns0:txBody>
          <ns1:bodyPr/>
          <ns1:lstStyle/>
          <ns1:p>
            <ns1:endParaRPr lang="ko-KR" altLang="en-US"/>
          </ns1:p>
        </ns0:txBody>
      </ns0:sp>
      <ns0:sp>
        <ns0:nvSpPr>
          <ns0:cNvPr id="8" name="Shape 6"/>
          <ns0:cNvSpPr/>
          <ns0:nvPr/>
        </ns0:nvSpPr>
        <ns0:spPr>
          <ns1:xfrm>
            <ns1:off x="365760" y="1691640"/>
            <ns1:ext cx="3977640" cy="91440"/>
          </ns1:xfrm>
          <ns1:prstGeom prst="rect">
            <ns1:avLst/>
          </ns1:prstGeom>
          <ns1:solidFill>
            <ns1:srgbClr val="FFCD00"/>
          </ns1:solidFill>
          <ns1:ln w="12700">
            <ns1:solidFill>
              <ns1:srgbClr val="FFCD00"/>
            </ns1:solidFill>
            <ns1:prstDash val="solid"/>
          </ns1:ln>
        </ns0:spPr>
        <ns0:txBody>
          <ns1:bodyPr/>
          <ns1:lstStyle/>
          <ns1:p>
            <ns1:endParaRPr lang="ko-KR" altLang="en-US"/>
          </ns1:p>
        </ns0:txBody>
      </ns0:sp>
      <ns0:sp>
        <ns0:nvSpPr>
          <ns0:cNvPr id="9" name="Text 7"/>
          <ns0:cNvSpPr/>
          <ns0:nvPr/>
        </ns0:nvSpPr>
        <ns0:spPr>
          <ns1:xfrm>
            <ns1:off x="530352" y="1783080"/>
            <ns1:ext cx="822960" cy="5029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lang="en-US" sz="3000" b="1" dirty="0">
                <ns1:solidFill>
                  <ns1:srgbClr val="FFCD00"/>
                </ns1:solidFill>
                <ns1:latin typeface="Arial Black" pitchFamily="34" charset="0"/>
                <ns1:ea typeface="Arial Black" pitchFamily="34" charset="-122"/>
                <ns1:cs typeface="Arial Black" pitchFamily="34" charset="-120"/>
              </ns1:rPr>
              <ns1:t>01</ns1:t>
            </ns1:r>
            <ns1:endParaRPr lang="en-US" sz="3000" dirty="0"/>
          </ns1:p>
        </ns0:txBody>
      </ns0:sp>
      <ns0:sp>
        <ns0:nvSpPr>
          <ns0:cNvPr id="10" name="Text 8"/>
          <ns0:cNvSpPr/>
          <ns0:nvPr/>
        </ns0:nvSpPr>
        <ns0:spPr>
          <ns1:xfrm>
            <ns1:off x="530352" y="2286000"/>
            <ns1:ext cx="3566160" cy="3200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sz="1500" b="1" dirty="0" err="1">
                <ns1:solidFill>
                  <ns1:srgbClr val="FFFFFF"/>
                </ns1:solidFill>
                <ns1:latin typeface="Malgun Gothic"/>
              </ns1:rPr>
              <ns1:t>프로젝트</ns1:t>
            </ns1:r>
            <ns1:r>
              <ns1:rPr sz="1500" b="1" dirty="0">
                <ns1:solidFill>
                  <ns1:srgbClr val="FFFFFF"/>
                </ns1:solidFill>
                <ns1:latin typeface="Malgun Gothic"/>
              </ns1:rPr>
              <ns1:t xml:space="preserve"> </ns1:t>
            </ns1:r>
            <ns1:r>
              <ns1:rPr sz="1500" b="1" dirty="0" err="1">
                <ns1:solidFill>
                  <ns1:srgbClr val="FFFFFF"/>
                </ns1:solidFill>
                <ns1:latin typeface="Malgun Gothic"/>
              </ns1:rPr>
              <ns1:t>개요·변경점</ns1:t>
            </ns1:r>
            <ns1:endParaRPr lang="en-US" sz="1400" dirty="0"/>
          </ns1:p>
        </ns0:txBody>
      </ns0:sp>
      <ns0:sp>
        <ns0:nvSpPr>
          <ns0:cNvPr id="11" name="Text 9"/>
          <ns0:cNvSpPr/>
          <ns0:nvPr/>
        </ns0:nvSpPr>
        <ns0:spPr>
          <ns1:xfrm>
            <ns1:off x="530352" y="2587752"/>
            <ns1:ext cx="3566160" cy="25603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sz="1050" dirty="0">
                <ns1:solidFill>
                  <ns1:srgbClr val="AAAAAA"/>
                </ns1:solidFill>
                <ns1:latin typeface="Malgun Gothic"/>
              </ns1:rPr>
              <ns1:t xml:space="preserve">1~4: </ns1:t>
            </ns1:r>
            <ns1:r>
              <ns1:rPr sz="1050" dirty="0" err="1">
                <ns1:solidFill>
                  <ns1:srgbClr val="AAAAAA"/>
                </ns1:solidFill>
                <ns1:latin typeface="Malgun Gothic"/>
              </ns1:rPr>
              <ns1:t>문제</ns1:t>
            </ns1:r>
            <ns1:r>
              <ns1:rPr sz="1050" dirty="0">
                <ns1:solidFill>
                  <ns1:srgbClr val="AAAAAA"/>
                </ns1:solidFill>
                <ns1:latin typeface="Malgun Gothic"/>
              </ns1:rPr>
              <ns1:t xml:space="preserve"> </ns1:t>
            </ns1:r>
            <ns1:r>
              <ns1:rPr sz="1050" dirty="0" err="1">
                <ns1:solidFill>
                  <ns1:srgbClr val="AAAAAA"/>
                </ns1:solidFill>
                <ns1:latin typeface="Malgun Gothic"/>
              </ns1:rPr>
              <ns1:t>정의와</ns1:t>
            </ns1:r>
            <ns1:r>
              <ns1:rPr sz="1050" dirty="0">
                <ns1:solidFill>
                  <ns1:srgbClr val="AAAAAA"/>
                </ns1:solidFill>
                <ns1:latin typeface="Malgun Gothic"/>
              </ns1:rPr>
              <ns1:t xml:space="preserve"> </ns1:t>
            </ns1:r>
            <ns1:r>
              <ns1:rPr sz="1050" dirty="0" err="1">
                <ns1:solidFill>
                  <ns1:srgbClr val="AAAAAA"/>
                </ns1:solidFill>
                <ns1:latin typeface="Malgun Gothic"/>
              </ns1:rPr>
              <ns1:t>범위</ns1:t>
            </ns1:r>
            <ns1:r>
              <ns1:rPr sz="1050" dirty="0">
                <ns1:solidFill>
                  <ns1:srgbClr val="AAAAAA"/>
                </ns1:solidFill>
                <ns1:latin typeface="Malgun Gothic"/>
              </ns1:rPr>
              <ns1:t xml:space="preserve"> </ns1:t>
            </ns1:r>
            <ns1:r>
              <ns1:rPr sz="1050" dirty="0" err="1">
                <ns1:solidFill>
                  <ns1:srgbClr val="AAAAAA"/>
                </ns1:solidFill>
                <ns1:latin typeface="Malgun Gothic"/>
              </ns1:rPr>
              <ns1:t>변경</ns1:t>
            </ns1:r>
            <ns1:endParaRPr lang="en-US" sz="1100" dirty="0"/>
          </ns1:p>
        </ns0:txBody>
      </ns0:sp>
      <ns0:sp>
        <ns0:nvSpPr>
          <ns0:cNvPr id="12" name="Shape 10"/>
          <ns0:cNvSpPr/>
          <ns0:nvPr/>
        </ns0:nvSpPr>
        <ns0:spPr>
          <ns1:xfrm>
            <ns1:off x="4754880" y="1691640"/>
            <ns1:ext cx="3977640" cy="1188720"/>
          </ns1:xfrm>
          <ns1:prstGeom prst="rect">
            <ns1:avLst/>
          </ns1:prstGeom>
          <ns1:solidFill>
            <ns1:srgbClr val="F2F2F2"/>
          </ns1:solidFill>
          <ns1:ln w="12700">
            <ns1:solidFill>
              <ns1:srgbClr val="F2F2F2"/>
            </ns1:solidFill>
            <ns1:prstDash val="solid"/>
          </ns1:ln>
          <ns1:effectLst>
            <ns1:outerShdw blurRad="101600" dist="25400" dir="8100000" algn="bl" rotWithShape="0">
              <ns1:srgbClr val="000000">
                <ns1:alpha val="12000"/>
              </ns1:srgbClr>
            </ns1:outerShdw>
          </ns1:effectLst>
        </ns0:spPr>
        <ns0:txBody>
          <ns1:bodyPr/>
          <ns1:lstStyle/>
          <ns1:p>
            <ns1:endParaRPr lang="ko-KR" altLang="en-US"/>
          </ns1:p>
        </ns0:txBody>
      </ns0:sp>
      <ns0:sp>
        <ns0:nvSpPr>
          <ns0:cNvPr id="13" name="Shape 11"/>
          <ns0:cNvSpPr/>
          <ns0:nvPr/>
        </ns0:nvSpPr>
        <ns0:spPr>
          <ns1:xfrm>
            <ns1:off x="4754880" y="1691640"/>
            <ns1:ext cx="3977640" cy="91440"/>
          </ns1:xfrm>
          <ns1:prstGeom prst="rect">
            <ns1:avLst/>
          </ns1:prstGeom>
          <ns1:solidFill>
            <ns1:srgbClr val="FFCD00"/>
          </ns1:solidFill>
          <ns1:ln w="12700">
            <ns1:solidFill>
              <ns1:srgbClr val="FFCD00"/>
            </ns1:solidFill>
            <ns1:prstDash val="solid"/>
          </ns1:ln>
        </ns0:spPr>
        <ns0:txBody>
          <ns1:bodyPr/>
          <ns1:lstStyle/>
          <ns1:p>
            <ns1:endParaRPr lang="ko-KR" altLang="en-US"/>
          </ns1:p>
        </ns0:txBody>
      </ns0:sp>
      <ns0:sp>
        <ns0:nvSpPr>
          <ns0:cNvPr id="14" name="Text 12"/>
          <ns0:cNvSpPr/>
          <ns0:nvPr/>
        </ns0:nvSpPr>
        <ns0:spPr>
          <ns1:xfrm>
            <ns1:off x="4919472" y="1783080"/>
            <ns1:ext cx="822960" cy="5029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lang="en-US" sz="3000" b="1" dirty="0">
                <ns1:solidFill>
                  <ns1:srgbClr val="1A1A1A"/>
                </ns1:solidFill>
                <ns1:latin typeface="Arial Black" pitchFamily="34" charset="0"/>
                <ns1:ea typeface="Arial Black" pitchFamily="34" charset="-122"/>
                <ns1:cs typeface="Arial Black" pitchFamily="34" charset="-120"/>
              </ns1:rPr>
              <ns1:t>02</ns1:t>
            </ns1:r>
            <ns1:endParaRPr lang="en-US" sz="3000" dirty="0"/>
          </ns1:p>
        </ns0:txBody>
      </ns0:sp>
      <ns0:sp>
        <ns0:nvSpPr>
          <ns0:cNvPr id="15" name="Text 13"/>
          <ns0:cNvSpPr/>
          <ns0:nvPr/>
        </ns0:nvSpPr>
        <ns0:spPr>
          <ns1:xfrm>
            <ns1:off x="4919472" y="2286000"/>
            <ns1:ext cx="3566160" cy="3200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sz="1500" b="1">
                <ns1:latin typeface="Malgun Gothic"/>
              </ns1:rPr>
              <ns1:t>지도 구현·배포</ns1:t>
            </ns1:r>
            <ns1:endParaRPr lang="en-US" sz="1400" dirty="0"/>
          </ns1:p>
        </ns0:txBody>
      </ns0:sp>
      <ns0:sp>
        <ns0:nvSpPr>
          <ns0:cNvPr id="16" name="Text 14"/>
          <ns0:cNvSpPr/>
          <ns0:nvPr/>
        </ns0:nvSpPr>
        <ns0:spPr>
          <ns1:xfrm>
            <ns1:off x="4919472" y="2587752"/>
            <ns1:ext cx="3566160" cy="25603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sz="1050">
                <ns1:latin typeface="Malgun Gothic"/>
              </ns1:rPr>
              <ns1:t>5~8: OSM·Three.js·Cloudflare</ns1:t>
            </ns1:r>
            <ns1:endParaRPr lang="en-US" sz="1100" dirty="0"/>
          </ns1:p>
        </ns0:txBody>
      </ns0:sp>
      <ns0:sp>
        <ns0:nvSpPr>
          <ns0:cNvPr id="17" name="Shape 15"/>
          <ns0:cNvSpPr/>
          <ns0:nvPr/>
        </ns0:nvSpPr>
        <ns0:spPr>
          <ns1:xfrm>
            <ns1:off x="365760" y="3108960"/>
            <ns1:ext cx="3977640" cy="1188720"/>
          </ns1:xfrm>
          <ns1:prstGeom prst="rect">
            <ns1:avLst/>
          </ns1:prstGeom>
          <ns1:solidFill>
            <ns1:srgbClr val="1A1A1A"/>
          </ns1:solidFill>
          <ns1:ln w="12700">
            <ns1:solidFill>
              <ns1:srgbClr val="1A1A1A"/>
            </ns1:solidFill>
            <ns1:prstDash val="solid"/>
          </ns1:ln>
          <ns1:effectLst>
            <ns1:outerShdw blurRad="101600" dist="25400" dir="8100000" algn="bl" rotWithShape="0">
              <ns1:srgbClr val="000000">
                <ns1:alpha val="12000"/>
              </ns1:srgbClr>
            </ns1:outerShdw>
          </ns1:effectLst>
        </ns0:spPr>
        <ns0:txBody>
          <ns1:bodyPr/>
          <ns1:lstStyle/>
          <ns1:p>
            <ns1:endParaRPr lang="ko-KR" altLang="en-US"/>
          </ns1:p>
        </ns0:txBody>
      </ns0:sp>
      <ns0:sp>
        <ns0:nvSpPr>
          <ns0:cNvPr id="18" name="Shape 16"/>
          <ns0:cNvSpPr/>
          <ns0:nvPr/>
        </ns0:nvSpPr>
        <ns0:spPr>
          <ns1:xfrm>
            <ns1:off x="365760" y="3108960"/>
            <ns1:ext cx="3977640" cy="91440"/>
          </ns1:xfrm>
          <ns1:prstGeom prst="rect">
            <ns1:avLst/>
          </ns1:prstGeom>
          <ns1:solidFill>
            <ns1:srgbClr val="FFCD00"/>
          </ns1:solidFill>
          <ns1:ln w="12700">
            <ns1:solidFill>
              <ns1:srgbClr val="FFCD00"/>
            </ns1:solidFill>
            <ns1:prstDash val="solid"/>
          </ns1:ln>
        </ns0:spPr>
        <ns0:txBody>
          <ns1:bodyPr/>
          <ns1:lstStyle/>
          <ns1:p>
            <ns1:endParaRPr lang="ko-KR" altLang="en-US"/>
          </ns1:p>
        </ns0:txBody>
      </ns0:sp>
      <ns0:sp>
        <ns0:nvSpPr>
          <ns0:cNvPr id="19" name="Text 17"/>
          <ns0:cNvSpPr/>
          <ns0:nvPr/>
        </ns0:nvSpPr>
        <ns0:spPr>
          <ns1:xfrm>
            <ns1:off x="530352" y="3200400"/>
            <ns1:ext cx="822960" cy="5029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lang="en-US" sz="3000" b="1" dirty="0">
                <ns1:solidFill>
                  <ns1:srgbClr val="FFCD00"/>
                </ns1:solidFill>
                <ns1:latin typeface="Arial Black" pitchFamily="34" charset="0"/>
                <ns1:ea typeface="Arial Black" pitchFamily="34" charset="-122"/>
                <ns1:cs typeface="Arial Black" pitchFamily="34" charset="-120"/>
              </ns1:rPr>
              <ns1:t>03</ns1:t>
            </ns1:r>
            <ns1:endParaRPr lang="en-US" sz="3000" dirty="0"/>
          </ns1:p>
        </ns0:txBody>
      </ns0:sp>
      <ns0:sp>
        <ns0:nvSpPr>
          <ns0:cNvPr id="20" name="Text 18"/>
          <ns0:cNvSpPr/>
          <ns0:nvPr/>
        </ns0:nvSpPr>
        <ns0:spPr>
          <ns1:xfrm>
            <ns1:off x="530352" y="3703320"/>
            <ns1:ext cx="3566160" cy="3200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sz="1500" b="1">
                <ns1:solidFill>
                  <ns1:srgbClr val="FFFFFF"/>
                </ns1:solidFill>
                <ns1:latin typeface="Malgun Gothic"/>
              </ns1:rPr>
              <ns1:t>데이터 수집·모델</ns1:t>
            </ns1:r>
            <ns1:endParaRPr lang="en-US" sz="1400" dirty="0"/>
          </ns1:p>
        </ns0:txBody>
      </ns0:sp>
      <ns0:sp>
        <ns0:nvSpPr>
          <ns0:cNvPr id="21" name="Text 19"/>
          <ns0:cNvSpPr/>
          <ns0:nvPr/>
        </ns0:nvSpPr>
        <ns0:spPr>
          <ns1:xfrm>
            <ns1:off x="530352" y="4005072"/>
            <ns1:ext cx="3566160" cy="25603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sz="1050">
                <ns1:solidFill>
                  <ns1:srgbClr val="AAAAAA"/>
                </ns1:solidFill>
                <ns1:latin typeface="Malgun Gothic"/>
              </ns1:rPr>
              <ns1:t>9~11: proxy 데이터와 Colab 결과</ns1:t>
            </ns1:r>
            <ns1:endParaRPr lang="en-US" sz="1100" dirty="0"/>
          </ns1:p>
        </ns0:txBody>
      </ns0:sp>
      <ns0:sp>
        <ns0:nvSpPr>
          <ns0:cNvPr id="22" name="Shape 20"/>
          <ns0:cNvSpPr/>
          <ns0:nvPr/>
        </ns0:nvSpPr>
        <ns0:spPr>
          <ns1:xfrm>
            <ns1:off x="4754880" y="3108960"/>
            <ns1:ext cx="3977640" cy="1188720"/>
          </ns1:xfrm>
          <ns1:prstGeom prst="rect">
            <ns1:avLst/>
          </ns1:prstGeom>
          <ns1:solidFill>
            <ns1:srgbClr val="F2F2F2"/>
          </ns1:solidFill>
          <ns1:ln w="12700">
            <ns1:solidFill>
              <ns1:srgbClr val="F2F2F2"/>
            </ns1:solidFill>
            <ns1:prstDash val="solid"/>
          </ns1:ln>
          <ns1:effectLst>
            <ns1:outerShdw blurRad="101600" dist="25400" dir="8100000" algn="bl" rotWithShape="0">
              <ns1:srgbClr val="000000">
                <ns1:alpha val="12000"/>
              </ns1:srgbClr>
            </ns1:outerShdw>
          </ns1:effectLst>
        </ns0:spPr>
        <ns0:txBody>
          <ns1:bodyPr/>
          <ns1:lstStyle/>
          <ns1:p>
            <ns1:endParaRPr lang="ko-KR" altLang="en-US"/>
          </ns1:p>
        </ns0:txBody>
      </ns0:sp>
      <ns0:sp>
        <ns0:nvSpPr>
          <ns0:cNvPr id="23" name="Shape 21"/>
          <ns0:cNvSpPr/>
          <ns0:nvPr/>
        </ns0:nvSpPr>
        <ns0:spPr>
          <ns1:xfrm>
            <ns1:off x="4754880" y="3108960"/>
            <ns1:ext cx="3977640" cy="91440"/>
          </ns1:xfrm>
          <ns1:prstGeom prst="rect">
            <ns1:avLst/>
          </ns1:prstGeom>
          <ns1:solidFill>
            <ns1:srgbClr val="FFCD00"/>
          </ns1:solidFill>
          <ns1:ln w="12700">
            <ns1:solidFill>
              <ns1:srgbClr val="FFCD00"/>
            </ns1:solidFill>
            <ns1:prstDash val="solid"/>
          </ns1:ln>
        </ns0:spPr>
        <ns0:txBody>
          <ns1:bodyPr/>
          <ns1:lstStyle/>
          <ns1:p>
            <ns1:endParaRPr lang="ko-KR" altLang="en-US"/>
          </ns1:p>
        </ns0:txBody>
      </ns0:sp>
      <ns0:sp>
        <ns0:nvSpPr>
          <ns0:cNvPr id="24" name="Text 22"/>
          <ns0:cNvSpPr/>
          <ns0:nvPr/>
        </ns0:nvSpPr>
        <ns0:spPr>
          <ns1:xfrm>
            <ns1:off x="4919472" y="3200400"/>
            <ns1:ext cx="822960" cy="5029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lang="en-US" sz="3000" b="1" dirty="0">
                <ns1:solidFill>
                  <ns1:srgbClr val="1A1A1A"/>
                </ns1:solidFill>
                <ns1:latin typeface="Arial Black" pitchFamily="34" charset="0"/>
                <ns1:ea typeface="Arial Black" pitchFamily="34" charset="-122"/>
                <ns1:cs typeface="Arial Black" pitchFamily="34" charset="-120"/>
              </ns1:rPr>
              <ns1:t>04</ns1:t>
            </ns1:r>
            <ns1:endParaRPr lang="en-US" sz="3000" dirty="0"/>
          </ns1:p>
        </ns0:txBody>
      </ns0:sp>
      <ns0:sp>
        <ns0:nvSpPr>
          <ns0:cNvPr id="25" name="Text 23"/>
          <ns0:cNvSpPr/>
          <ns0:nvPr/>
        </ns0:nvSpPr>
        <ns0:spPr>
          <ns1:xfrm>
            <ns1:off x="4919472" y="3703320"/>
            <ns1:ext cx="3566160" cy="3200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sz="1500" b="1">
                <ns1:latin typeface="Malgun Gothic"/>
              </ns1:rPr>
              <ns1:t>서비스 연결·한계</ns1:t>
            </ns1:r>
            <ns1:endParaRPr lang="en-US" sz="1400" dirty="0"/>
          </ns1:p>
        </ns0:txBody>
      </ns0:sp>
      <ns0:sp>
        <ns0:nvSpPr>
          <ns0:cNvPr id="26" name="Text 24"/>
          <ns0:cNvSpPr/>
          <ns0:nvPr/>
        </ns0:nvSpPr>
        <ns0:spPr>
          <ns1:xfrm>
            <ns1:off x="4919472" y="4005072"/>
            <ns1:ext cx="3566160" cy="25603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sz="1050">
                <ns1:latin typeface="Malgun Gothic"/>
              </ns1:rPr>
              <ns1:t>12~14: 프로토타입과 다음 단계</ns1:t>
            </ns1:r>
            <ns1:endParaRPr lang="en-US" sz="1100" dirty="0"/>
          </ns1:p>
        </ns0:txBody>
      </ns0:sp>
    </ns0:spTree>
  </ns0:cSld>
  <ns0:clrMapOvr>
    <ns1:masterClrMapping/>
  </ns0:clrMapOvr>
</ns0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역삼 택시  ·  Digital Twin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무엇을 만들었나요?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365760" y="1554480"/>
            <a:ext cx="2606040" cy="310896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365760" y="1554480"/>
            <a:ext cx="2606040" cy="9144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216152" y="1737360"/>
            <a:ext cx="914400" cy="91440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24" y="1856232"/>
            <a:ext cx="676656" cy="6766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57200" y="27889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Digital Twin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57200" y="324612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300">
                <a:latin typeface="Malgun Gothic"/>
              </a:rPr>
              <a:t>강남 9개 동 실제 도로망을</a:t>
            </a:r>
            <a:endParaRPr lang="en-US" sz="1200" dirty="0"/>
          </a:p>
          <a:p>
            <a:pPr algn="ctr"/>
            <a:r>
              <a:rPr sz="1300">
                <a:latin typeface="Malgun Gothic"/>
              </a:rPr>
              <a:t>3D로 가상화한 환경에서</a:t>
            </a:r>
          </a:p>
          <a:p>
            <a:pPr algn="ctr"/>
            <a:r>
              <a:rPr sz="1300">
                <a:latin typeface="Malgun Gothic"/>
              </a:rPr>
              <a:t>이동 수요·차량 흐름 시뮬레이션</a:t>
            </a:r>
          </a:p>
        </p:txBody>
      </p:sp>
      <p:sp>
        <p:nvSpPr>
          <p:cNvPr id="13" name="Shape 10"/>
          <p:cNvSpPr/>
          <p:nvPr/>
        </p:nvSpPr>
        <p:spPr>
          <a:xfrm>
            <a:off x="3182112" y="1554480"/>
            <a:ext cx="2606040" cy="310896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3182112" y="1554480"/>
            <a:ext cx="2606040" cy="9144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4032504" y="1737360"/>
            <a:ext cx="914400" cy="91440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1376" y="1856232"/>
            <a:ext cx="676656" cy="6766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273552" y="27889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수요 예측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3273552" y="324612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시공간 피처 기반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HistGradientBoosting 모델로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1시간 뒤 이동 수요 proxy 예측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998464" y="1554480"/>
            <a:ext cx="2606040" cy="310896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5998464" y="1554480"/>
            <a:ext cx="2606040" cy="9144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7"/>
          <p:cNvSpPr/>
          <p:nvPr/>
        </p:nvSpPr>
        <p:spPr>
          <a:xfrm>
            <a:off x="6848856" y="1737360"/>
            <a:ext cx="914400" cy="91440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7728" y="1856232"/>
            <a:ext cx="676656" cy="6766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089904" y="27889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800" b="1">
                <a:latin typeface="Malgun Gothic"/>
              </a:rPr>
              <a:t>배차 연결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6089904" y="324612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300">
                <a:latin typeface="Malgun Gothic"/>
              </a:rPr>
              <a:t>동별 수요 신호를 지도에 연결하고</a:t>
            </a:r>
            <a:endParaRPr lang="en-US" sz="1200" dirty="0"/>
          </a:p>
          <a:p>
            <a:pPr algn="ctr"/>
            <a:r>
              <a:rPr sz="1300">
                <a:latin typeface="Malgun Gothic"/>
              </a:rPr>
              <a:t>향후 실제 호출 데이터 확보 시</a:t>
            </a:r>
          </a:p>
          <a:p>
            <a:pPr algn="ctr"/>
            <a:r>
              <a:rPr sz="1300">
                <a:latin typeface="Malgun Gothic"/>
              </a:rPr>
              <a:t>배차 정책으로 확장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역삼 택시  ·  Digital Twin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변경 사항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명세서와 다르게 구현한 부분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더 현실적이고 의미 있는 결과를 위한 의도적 변경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828800"/>
            <a:ext cx="8412480" cy="621792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1188720" cy="411480"/>
          </a:xfrm>
          <a:prstGeom prst="roundRect">
            <a:avLst>
              <a:gd name="adj" fmla="val 1777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57200" y="192024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공간 범위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783080" y="1920240"/>
            <a:ext cx="2103120" cy="411480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783080" y="19202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3×3 블럭 추상 격자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931920" y="192024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343400" y="1920240"/>
            <a:ext cx="2103120" cy="411480"/>
          </a:xfrm>
          <a:prstGeom prst="rect">
            <a:avLst/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343400" y="19202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 b="1">
                <a:latin typeface="Malgun Gothic"/>
              </a:rPr>
              <a:t>✓  강남 9개 행정동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92240" y="19202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50">
                <a:latin typeface="Malgun Gothic"/>
              </a:rPr>
              <a:t>강남권 이동 수요가 집중되는 실제 행정구역 반영, 의미 있는 예측 가능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2542032"/>
            <a:ext cx="8412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57200" y="2633472"/>
            <a:ext cx="1188720" cy="411480"/>
          </a:xfrm>
          <a:prstGeom prst="roundRect">
            <a:avLst>
              <a:gd name="adj" fmla="val 17778"/>
            </a:avLst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457200" y="2633472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지도 데이터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783080" y="2633472"/>
            <a:ext cx="2103120" cy="411480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1783080" y="263347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추상 3D Map Asset 제공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931920" y="26334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343400" y="2633472"/>
            <a:ext cx="2103120" cy="411480"/>
          </a:xfrm>
          <a:prstGeom prst="rect">
            <a:avLst/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4343400" y="263347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OSM 실제 도로 데이터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6334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50">
                <a:latin typeface="Malgun Gothic"/>
              </a:rPr>
              <a:t>OSM 노드/엣지 추출 → 실제 도로 위상 반영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3255264"/>
            <a:ext cx="8412480" cy="621792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457200" y="3346704"/>
            <a:ext cx="1188720" cy="411480"/>
          </a:xfrm>
          <a:prstGeom prst="roundRect">
            <a:avLst>
              <a:gd name="adj" fmla="val 17778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457200" y="3346704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렌더링 엔진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783080" y="3346704"/>
            <a:ext cx="2103120" cy="411480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1783080" y="3346704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SUMO / Carla 시뮬레이터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931920" y="3346704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43400" y="3346704"/>
            <a:ext cx="2103120" cy="411480"/>
          </a:xfrm>
          <a:prstGeom prst="rect">
            <a:avLst/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4343400" y="3346704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Three.js 웹 기반 3D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92240" y="334670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별도 설치 없이 바로 시연, 발표·공유 용이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65760" y="3968496"/>
            <a:ext cx="8412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457200" y="4059936"/>
            <a:ext cx="1188720" cy="411480"/>
          </a:xfrm>
          <a:prstGeom prst="roundRect">
            <a:avLst>
              <a:gd name="adj" fmla="val 17778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457200" y="405993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배포 환경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783080" y="4059936"/>
            <a:ext cx="2103120" cy="411480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1783080" y="405993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로컬 실행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931920" y="4059936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4343400" y="4059936"/>
            <a:ext cx="2103120" cy="411480"/>
          </a:xfrm>
          <a:prstGeom prst="rect">
            <a:avLst/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/>
          <p:nvPr/>
        </p:nvSpPr>
        <p:spPr>
          <a:xfrm>
            <a:off x="4343400" y="405993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✓  Cloudflare Workers</a:t>
            </a:r>
          </a:p>
        </p:txBody>
      </p:sp>
      <p:sp>
        <p:nvSpPr>
          <p:cNvPr id="43" name="Text 41"/>
          <p:cNvSpPr/>
          <p:nvPr/>
        </p:nvSpPr>
        <p:spPr>
          <a:xfrm>
            <a:off x="6492240" y="4059936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 하나로 즉시 접속 가능한 라이브 데모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 name="Slide 5">
    <ns0:bg>
      <ns0:bgPr>
        <ns1:solidFill>
          <ns1:srgbClr val="FFFFFF"/>
        </ns1:solidFill>
        <ns1:effectLst/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hape 0"/>
          <ns0:cNvSpPr/>
          <ns0:nvPr/>
        </ns0:nvSpPr>
        <ns0:spPr>
          <ns1:xfrm>
            <ns1:off x="0" y="0"/>
            <ns1:ext cx="9144000" cy="594360"/>
          </ns1:xfrm>
          <ns1:prstGeom prst="rect">
            <ns1:avLst/>
          </ns1:prstGeom>
          <ns1:solidFill>
            <ns1:srgbClr val="1A1A1A"/>
          </ns1:solidFill>
          <ns1:ln w="12700">
            <ns1:solidFill>
              <ns1:srgbClr val="1A1A1A"/>
            </ns1:solidFill>
            <ns1:prstDash val="solid"/>
          </ns1:ln>
        </ns0:spPr>
        <ns0:txBody>
          <ns1:bodyPr/>
          <ns1:lstStyle/>
          <ns1:p>
            <ns1:endParaRPr lang="ko-KR" altLang="en-US"/>
          </ns1:p>
        </ns0:txBody>
      </ns0:sp>
      <ns0:sp>
        <ns0:nvSpPr>
          <ns0:cNvPr id="3" name="Text 1"/>
          <ns0:cNvSpPr/>
          <ns0:nvPr/>
        </ns0:nvSpPr>
        <ns0:spPr>
          <ns1:xfrm>
            <ns1:off x="365760" y="91440"/>
            <ns1:ext cx="4572000" cy="4114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lang="en-US" sz="1300" b="1" dirty="0">
                <ns1:solidFill>
                  <ns1:srgbClr val="FFCD00"/>
                </ns1:solidFill>
                <ns1:latin typeface="Arial Black" pitchFamily="34" charset="0"/>
                <ns1:ea typeface="Arial Black" pitchFamily="34" charset="-122"/>
                <ns1:cs typeface="Arial Black" pitchFamily="34" charset="-120"/>
              </ns1:rPr>
              <ns1:t>역삼 택시  ·  Digital Twin</ns1:t>
            </ns1:r>
            <ns1:endParaRPr lang="en-US" sz="1300" dirty="0"/>
          </ns1:p>
        </ns0:txBody>
      </ns0:sp>
      <ns0:sp>
        <ns0:nvSpPr>
          <ns0:cNvPr id="4" name="Text 2"/>
          <ns0:cNvSpPr/>
          <ns0:nvPr/>
        </ns0:nvSpPr>
        <ns0:spPr>
          <ns1:xfrm>
            <ns1:off x="6400800" y="91440"/>
            <ns1:ext cx="2560320" cy="4114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 algn="r">
              <ns1:buNone/>
            </ns1:pPr>
            <ns1:r>
              <ns1:rPr lang="en-US" sz="1200" dirty="0">
                <ns1:solidFill>
                  <ns1:srgbClr val="FFFFFF"/>
                </ns1:solidFill>
                <ns1:latin typeface="Arial" pitchFamily="34" charset="0"/>
                <ns1:ea typeface="Arial" pitchFamily="34" charset="-122"/>
                <ns1:cs typeface="Arial" pitchFamily="34" charset="-120"/>
              </ns1:rPr>
              <ns1:t>기술 구현</ns1:t>
            </ns1:r>
            <ns1:endParaRPr lang="en-US" sz="1200" dirty="0"/>
          </ns1:p>
        </ns0:txBody>
      </ns0:sp>
      <ns0:sp>
        <ns0:nvSpPr>
          <ns0:cNvPr id="5" name="Shape 3"/>
          <ns0:cNvSpPr/>
          <ns0:nvPr/>
        </ns0:nvSpPr>
        <ns0:spPr>
          <ns1:xfrm>
            <ns1:off x="0" y="4892040"/>
            <ns1:ext cx="9144000" cy="256032"/>
          </ns1:xfrm>
          <ns1:prstGeom prst="rect">
            <ns1:avLst/>
          </ns1:prstGeom>
          <ns1:solidFill>
            <ns1:srgbClr val="FFCD00"/>
          </ns1:solidFill>
          <ns1:ln w="12700">
            <ns1:solidFill>
              <ns1:srgbClr val="FFCD00"/>
            </ns1:solidFill>
            <ns1:prstDash val="solid"/>
          </ns1:ln>
        </ns0:spPr>
        <ns0:txBody>
          <ns1:bodyPr/>
          <ns1:lstStyle/>
          <ns1:p>
            <ns1:endParaRPr lang="ko-KR" altLang="en-US"/>
          </ns1:p>
        </ns0:txBody>
      </ns0:sp>
      <ns0:sp>
        <ns0:nvSpPr>
          <ns0:cNvPr id="6" name="Text 4"/>
          <ns0:cNvSpPr/>
          <ns0:nvPr/>
        </ns0:nvSpPr>
        <ns0:spPr>
          <ns1:xfrm>
            <ns1:off x="457200" y="777240"/>
            <ns1:ext cx="8229600" cy="59436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lang="en-US" sz="2600" b="1" dirty="0">
                <ns1:solidFill>
                  <ns1:srgbClr val="1A1A1A"/>
                </ns1:solidFill>
                <ns1:latin typeface="Arial Black" pitchFamily="34" charset="0"/>
                <ns1:ea typeface="Arial Black" pitchFamily="34" charset="-122"/>
                <ns1:cs typeface="Arial Black" pitchFamily="34" charset="-120"/>
              </ns1:rPr>
              <ns1:t>Three.js + OpenStreetMap 구현</ns1:t>
            </ns1:r>
            <ns1:endParaRPr lang="en-US" sz="2600" dirty="0"/>
          </ns1:p>
        </ns0:txBody>
      </ns0:sp>
      <ns0:sp>
        <ns0:nvSpPr>
          <ns0:cNvPr id="7" name="Shape 5"/>
          <ns0:cNvSpPr/>
          <ns0:nvPr/>
        </ns0:nvSpPr>
        <ns0:spPr>
          <ns1:xfrm>
            <ns1:off x="365760" y="1508760"/>
            <ns1:ext cx="3931920" cy="3337560"/>
          </ns1:xfrm>
          <ns1:prstGeom prst="rect">
            <ns1:avLst/>
          </ns1:prstGeom>
          <ns1:solidFill>
            <ns1:srgbClr val="1A1A1A"/>
          </ns1:solidFill>
          <ns1:ln w="12700">
            <ns1:solidFill>
              <ns1:srgbClr val="1A1A1A"/>
            </ns1:solidFill>
            <ns1:prstDash val="solid"/>
          </ns1:ln>
          <ns1:effectLst>
            <ns1:outerShdw blurRad="101600" dist="25400" dir="8100000" algn="bl" rotWithShape="0">
              <ns1:srgbClr val="000000">
                <ns1:alpha val="12000"/>
              </ns1:srgbClr>
            </ns1:outerShdw>
          </ns1:effectLst>
        </ns0:spPr>
        <ns0:txBody>
          <ns1:bodyPr/>
          <ns1:lstStyle/>
          <ns1:p>
            <ns1:endParaRPr lang="ko-KR" altLang="en-US"/>
          </ns1:p>
        </ns0:txBody>
      </ns0:sp>
      <ns0:sp>
        <ns0:nvSpPr>
          <ns0:cNvPr id="8" name="Shape 6"/>
          <ns0:cNvSpPr/>
          <ns0:nvPr/>
        </ns0:nvSpPr>
        <ns0:spPr>
          <ns1:xfrm>
            <ns1:off x="365760" y="1508760"/>
            <ns1:ext cx="3931920" cy="91440"/>
          </ns1:xfrm>
          <ns1:prstGeom prst="rect">
            <ns1:avLst/>
          </ns1:prstGeom>
          <ns1:solidFill>
            <ns1:srgbClr val="FFCD00"/>
          </ns1:solidFill>
          <ns1:ln w="12700">
            <ns1:solidFill>
              <ns1:srgbClr val="FFCD00"/>
            </ns1:solidFill>
            <ns1:prstDash val="solid"/>
          </ns1:ln>
        </ns0:spPr>
        <ns0:txBody>
          <ns1:bodyPr/>
          <ns1:lstStyle/>
          <ns1:p>
            <ns1:endParaRPr lang="ko-KR" altLang="en-US"/>
          </ns1:p>
        </ns0:txBody>
      </ns0:sp>
      <ns0:pic>
        <ns0:nvPicPr>
          <ns0:cNvPr id="9" name="Image 0" descr="preencoded.png"/>
          <ns0:cNvPicPr>
            <ns1:picLocks noChangeAspect="1"/>
          </ns0:cNvPicPr>
          <ns0:nvPr/>
        </ns0:nvPicPr>
        <ns0:blipFill>
          <ns1:blip ns2:embed="rId3"/>
          <ns1:stretch>
            <ns1:fillRect/>
          </ns1:stretch>
        </ns0:blipFill>
        <ns0:spPr>
          <ns1:xfrm>
            <ns1:off x="502920" y="1645920"/>
            <ns1:ext cx="502920" cy="502920"/>
          </ns1:xfrm>
          <ns1:prstGeom prst="rect">
            <ns1:avLst/>
          </ns1:prstGeom>
        </ns0:spPr>
      </ns0:pic>
      <ns0:sp>
        <ns0:nvSpPr>
          <ns0:cNvPr id="10" name="Text 7"/>
          <ns0:cNvSpPr/>
          <ns0:nvPr/>
        </ns0:nvSpPr>
        <ns0:spPr>
          <ns1:xfrm>
            <ns1:off x="1051560" y="1709928"/>
            <ns1:ext cx="3108960" cy="36576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lang="en-US" sz="1400" b="1" dirty="0">
                <ns1:solidFill>
                  <ns1:srgbClr val="FFCD00"/>
                </ns1:solidFill>
                <ns1:latin typeface="Arial" pitchFamily="34" charset="0"/>
                <ns1:ea typeface="Arial" pitchFamily="34" charset="-122"/>
                <ns1:cs typeface="Arial" pitchFamily="34" charset="-120"/>
              </ns1:rPr>
              <ns1:t>OSM 도로 데이터 파이프라인</ns1:t>
            </ns1:r>
            <ns1:endParaRPr lang="en-US" sz="1400" dirty="0"/>
          </ns1:p>
        </ns0:txBody>
      </ns0:sp>
      <ns0:sp>
        <ns0:nvSpPr>
          <ns0:cNvPr id="11" name="Shape 8"/>
          <ns0:cNvSpPr/>
          <ns0:nvPr/>
        </ns0:nvSpPr>
        <ns0:spPr>
          <ns1:xfrm>
            <ns1:off x="548640" y="2212848"/>
            <ns1:ext cx="3566160" cy="402336"/>
          </ns1:xfrm>
          <ns1:prstGeom prst="rect">
            <ns1:avLst/>
          </ns1:prstGeom>
          <ns1:solidFill>
            <ns1:srgbClr val="111827"/>
          </ns1:solidFill>
          <ns1:ln w="12700">
            <ns1:solidFill>
              <ns1:srgbClr val="374151"/>
            </ns1:solidFill>
            <ns1:prstDash val="solid"/>
          </ns1:ln>
        </ns0:spPr>
        <ns0:txBody>
          <ns1:bodyPr/>
          <ns1:lstStyle/>
          <ns1:p>
            <ns1:endParaRPr lang="ko-KR" altLang="en-US"/>
          </ns1:p>
        </ns0:txBody>
      </ns0:sp>
      <ns0:sp>
        <ns0:nvSpPr>
          <ns0:cNvPr id="12" name="Text 9"/>
          <ns0:cNvSpPr/>
          <ns0:nvPr/>
        </ns0:nvSpPr>
        <ns0:spPr>
          <ns1:xfrm>
            <ns1:off x="640080" y="2212848"/>
            <ns1:ext cx="347472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sz="1120">
                <ns1:solidFill>
                  <ns1:srgbClr val="FFFFFF"/>
                </ns1:solidFill>
                <ns1:latin typeface="Malgun Gothic"/>
              </ns1:rPr>
              <ns1:t>① Overpass API → 강남 9개 동 bbox 쿼리</ns1:t>
            </ns1:r>
            <ns1:endParaRPr lang="en-US" sz="1150" dirty="0"/>
          </ns1:p>
        </ns0:txBody>
      </ns0:sp>
      <ns0:sp>
        <ns0:nvSpPr>
          <ns0:cNvPr id="13" name="Shape 10"/>
          <ns0:cNvSpPr/>
          <ns0:nvPr/>
        </ns0:nvSpPr>
        <ns0:spPr>
          <ns1:xfrm>
            <ns1:off x="548640" y="2697480"/>
            <ns1:ext cx="3566160" cy="402336"/>
          </ns1:xfrm>
          <ns1:prstGeom prst="rect">
            <ns1:avLst/>
          </ns1:prstGeom>
          <ns1:solidFill>
            <ns1:srgbClr val="111827"/>
          </ns1:solidFill>
          <ns1:ln w="12700">
            <ns1:solidFill>
              <ns1:srgbClr val="374151"/>
            </ns1:solidFill>
            <ns1:prstDash val="solid"/>
          </ns1:ln>
        </ns0:spPr>
        <ns0:txBody>
          <ns1:bodyPr/>
          <ns1:lstStyle/>
          <ns1:p>
            <ns1:endParaRPr lang="ko-KR" altLang="en-US"/>
          </ns1:p>
        </ns0:txBody>
      </ns0:sp>
      <ns0:sp>
        <ns0:nvSpPr>
          <ns0:cNvPr id="14" name="Text 11"/>
          <ns0:cNvSpPr/>
          <ns0:nvPr/>
        </ns0:nvSpPr>
        <ns0:spPr>
          <ns1:xfrm>
            <ns1:off x="640080" y="2697480"/>
            <ns1:ext cx="347472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lang="en-US" sz="1150" dirty="0">
                <ns1:solidFill>
                  <ns1:srgbClr val="FFFFFF"/>
                </ns1:solidFill>
                <ns1:latin typeface="Consolas" pitchFamily="34" charset="0"/>
                <ns1:ea typeface="Consolas" pitchFamily="34" charset="-122"/>
                <ns1:cs typeface="Consolas" pitchFamily="34" charset="-120"/>
              </ns1:rPr>
              <ns1:t>② Way(도로) 필터링 → highway 태그</ns1:t>
            </ns1:r>
            <ns1:endParaRPr lang="en-US" sz="1150" dirty="0"/>
          </ns1:p>
        </ns0:txBody>
      </ns0:sp>
      <ns0:sp>
        <ns0:nvSpPr>
          <ns0:cNvPr id="15" name="Shape 12"/>
          <ns0:cNvSpPr/>
          <ns0:nvPr/>
        </ns0:nvSpPr>
        <ns0:spPr>
          <ns1:xfrm>
            <ns1:off x="548640" y="3182112"/>
            <ns1:ext cx="3566160" cy="402336"/>
          </ns1:xfrm>
          <ns1:prstGeom prst="rect">
            <ns1:avLst/>
          </ns1:prstGeom>
          <ns1:solidFill>
            <ns1:srgbClr val="111827"/>
          </ns1:solidFill>
          <ns1:ln w="12700">
            <ns1:solidFill>
              <ns1:srgbClr val="374151"/>
            </ns1:solidFill>
            <ns1:prstDash val="solid"/>
          </ns1:ln>
        </ns0:spPr>
        <ns0:txBody>
          <ns1:bodyPr/>
          <ns1:lstStyle/>
          <ns1:p>
            <ns1:endParaRPr lang="ko-KR" altLang="en-US"/>
          </ns1:p>
        </ns0:txBody>
      </ns0:sp>
      <ns0:sp>
        <ns0:nvSpPr>
          <ns0:cNvPr id="16" name="Text 13"/>
          <ns0:cNvSpPr/>
          <ns0:nvPr/>
        </ns0:nvSpPr>
        <ns0:spPr>
          <ns1:xfrm>
            <ns1:off x="640080" y="3182112"/>
            <ns1:ext cx="347472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lang="en-US" sz="1150" dirty="0">
                <ns1:solidFill>
                  <ns1:srgbClr val="FFFFFF"/>
                </ns1:solidFill>
                <ns1:latin typeface="Consolas" pitchFamily="34" charset="0"/>
                <ns1:ea typeface="Consolas" pitchFamily="34" charset="-122"/>
                <ns1:cs typeface="Consolas" pitchFamily="34" charset="-120"/>
              </ns1:rPr>
              <ns1:t>③ Node 좌표 추출 → lat/lon → 3D (x,z)</ns1:t>
            </ns1:r>
            <ns1:endParaRPr lang="en-US" sz="1150" dirty="0"/>
          </ns1:p>
        </ns0:txBody>
      </ns0:sp>
      <ns0:sp>
        <ns0:nvSpPr>
          <ns0:cNvPr id="17" name="Shape 14"/>
          <ns0:cNvSpPr/>
          <ns0:nvPr/>
        </ns0:nvSpPr>
        <ns0:spPr>
          <ns1:xfrm>
            <ns1:off x="548640" y="3666744"/>
            <ns1:ext cx="3566160" cy="402336"/>
          </ns1:xfrm>
          <ns1:prstGeom prst="rect">
            <ns1:avLst/>
          </ns1:prstGeom>
          <ns1:solidFill>
            <ns1:srgbClr val="111827"/>
          </ns1:solidFill>
          <ns1:ln w="12700">
            <ns1:solidFill>
              <ns1:srgbClr val="374151"/>
            </ns1:solidFill>
            <ns1:prstDash val="solid"/>
          </ns1:ln>
        </ns0:spPr>
        <ns0:txBody>
          <ns1:bodyPr/>
          <ns1:lstStyle/>
          <ns1:p>
            <ns1:endParaRPr lang="ko-KR" altLang="en-US"/>
          </ns1:p>
        </ns0:txBody>
      </ns0:sp>
      <ns0:sp>
        <ns0:nvSpPr>
          <ns0:cNvPr id="18" name="Text 15"/>
          <ns0:cNvSpPr/>
          <ns0:nvPr/>
        </ns0:nvSpPr>
        <ns0:spPr>
          <ns1:xfrm>
            <ns1:off x="640080" y="3666744"/>
            <ns1:ext cx="347472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lang="en-US" sz="1150" dirty="0">
                <ns1:solidFill>
                  <ns1:srgbClr val="FFFFFF"/>
                </ns1:solidFill>
                <ns1:latin typeface="Consolas" pitchFamily="34" charset="0"/>
                <ns1:ea typeface="Consolas" pitchFamily="34" charset="-122"/>
                <ns1:cs typeface="Consolas" pitchFamily="34" charset="-120"/>
              </ns1:rPr>
              <ns1:t>④ Edge 연결 → 도로 그래프 JSON 구성</ns1:t>
            </ns1:r>
            <ns1:endParaRPr lang="en-US" sz="1150" dirty="0"/>
          </ns1:p>
        </ns0:txBody>
      </ns0:sp>
      <ns0:sp>
        <ns0:nvSpPr>
          <ns0:cNvPr id="19" name="Shape 16"/>
          <ns0:cNvSpPr/>
          <ns0:nvPr/>
        </ns0:nvSpPr>
        <ns0:spPr>
          <ns1:xfrm>
            <ns1:off x="548640" y="4151376"/>
            <ns1:ext cx="3566160" cy="402336"/>
          </ns1:xfrm>
          <ns1:prstGeom prst="rect">
            <ns1:avLst/>
          </ns1:prstGeom>
          <ns1:solidFill>
            <ns1:srgbClr val="111827"/>
          </ns1:solidFill>
          <ns1:ln w="12700">
            <ns1:solidFill>
              <ns1:srgbClr val="374151"/>
            </ns1:solidFill>
            <ns1:prstDash val="solid"/>
          </ns1:ln>
        </ns0:spPr>
        <ns0:txBody>
          <ns1:bodyPr/>
          <ns1:lstStyle/>
          <ns1:p>
            <ns1:endParaRPr lang="ko-KR" altLang="en-US"/>
          </ns1:p>
        </ns0:txBody>
      </ns0:sp>
      <ns0:sp>
        <ns0:nvSpPr>
          <ns0:cNvPr id="20" name="Text 17"/>
          <ns0:cNvSpPr/>
          <ns0:nvPr/>
        </ns0:nvSpPr>
        <ns0:spPr>
          <ns1:xfrm>
            <ns1:off x="640080" y="4151376"/>
            <ns1:ext cx="347472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sz="1120">
                <ns1:solidFill>
                  <ns1:srgbClr val="FFFFFF"/>
                </ns1:solidFill>
                <ns1:latin typeface="Malgun Gothic"/>
              </ns1:rPr>
              <ns1:t>⑤ Three.js InstancedMesh / LineSegments 렌더</ns1:t>
            </ns1:r>
            <ns1:endParaRPr lang="en-US" sz="1150" dirty="0"/>
          </ns1:p>
        </ns0:txBody>
      </ns0:sp>
      <ns0:sp>
        <ns0:nvSpPr>
          <ns0:cNvPr id="21" name="Shape 18"/>
          <ns0:cNvSpPr/>
          <ns0:nvPr/>
        </ns0:nvSpPr>
        <ns0:spPr>
          <ns1:xfrm>
            <ns1:off x="4572000" y="1508760"/>
            <ns1:ext cx="4206240" cy="3337560"/>
          </ns1:xfrm>
          <ns1:prstGeom prst="rect">
            <ns1:avLst/>
          </ns1:prstGeom>
          <ns1:solidFill>
            <ns1:srgbClr val="F2F2F2"/>
          </ns1:solidFill>
          <ns1:ln w="12700">
            <ns1:solidFill>
              <ns1:srgbClr val="F2F2F2"/>
            </ns1:solidFill>
            <ns1:prstDash val="solid"/>
          </ns1:ln>
          <ns1:effectLst>
            <ns1:outerShdw blurRad="101600" dist="25400" dir="8100000" algn="bl" rotWithShape="0">
              <ns1:srgbClr val="000000">
                <ns1:alpha val="12000"/>
              </ns1:srgbClr>
            </ns1:outerShdw>
          </ns1:effectLst>
        </ns0:spPr>
        <ns0:txBody>
          <ns1:bodyPr/>
          <ns1:lstStyle/>
          <ns1:p>
            <ns1:endParaRPr lang="ko-KR" altLang="en-US"/>
          </ns1:p>
        </ns0:txBody>
      </ns0:sp>
      <ns0:sp>
        <ns0:nvSpPr>
          <ns0:cNvPr id="22" name="Shape 19"/>
          <ns0:cNvSpPr/>
          <ns0:nvPr/>
        </ns0:nvSpPr>
        <ns0:spPr>
          <ns1:xfrm>
            <ns1:off x="4572000" y="1508760"/>
            <ns1:ext cx="4206240" cy="91440"/>
          </ns1:xfrm>
          <ns1:prstGeom prst="rect">
            <ns1:avLst/>
          </ns1:prstGeom>
          <ns1:solidFill>
            <ns1:srgbClr val="3B82F6"/>
          </ns1:solidFill>
          <ns1:ln w="12700">
            <ns1:solidFill>
              <ns1:srgbClr val="3B82F6"/>
            </ns1:solidFill>
            <ns1:prstDash val="solid"/>
          </ns1:ln>
        </ns0:spPr>
        <ns0:txBody>
          <ns1:bodyPr/>
          <ns1:lstStyle/>
          <ns1:p>
            <ns1:endParaRPr lang="ko-KR" altLang="en-US"/>
          </ns1:p>
        </ns0:txBody>
      </ns0:sp>
      <ns0:pic>
        <ns0:nvPicPr>
          <ns0:cNvPr id="23" name="Image 1" descr="preencoded.png"/>
          <ns0:cNvPicPr>
            <ns1:picLocks noChangeAspect="1"/>
          </ns0:cNvPicPr>
          <ns0:nvPr/>
        </ns0:nvPicPr>
        <ns0:blipFill>
          <ns1:blip ns2:embed="rId4"/>
          <ns1:stretch>
            <ns1:fillRect/>
          </ns1:stretch>
        </ns0:blipFill>
        <ns0:spPr>
          <ns1:xfrm>
            <ns1:off x="4709160" y="1645920"/>
            <ns1:ext cx="475488" cy="475488"/>
          </ns1:xfrm>
          <ns1:prstGeom prst="rect">
            <ns1:avLst/>
          </ns1:prstGeom>
        </ns0:spPr>
      </ns0:pic>
      <ns0:sp>
        <ns0:nvSpPr>
          <ns0:cNvPr id="24" name="Text 20"/>
          <ns0:cNvSpPr/>
          <ns0:nvPr/>
        </ns0:nvSpPr>
        <ns0:spPr>
          <ns1:xfrm>
            <ns1:off x="5230368" y="1709928"/>
            <ns1:ext cx="3383280" cy="36576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lang="en-US" sz="1400" b="1" dirty="0">
                <ns1:solidFill>
                  <ns1:srgbClr val="1D4ED8"/>
                </ns1:solidFill>
                <ns1:latin typeface="Arial" pitchFamily="34" charset="0"/>
                <ns1:ea typeface="Arial" pitchFamily="34" charset="-122"/>
                <ns1:cs typeface="Arial" pitchFamily="34" charset="-120"/>
              </ns1:rPr>
              <ns1:t>Three.js 시뮬레이션 구성요소</ns1:t>
            </ns1:r>
            <ns1:endParaRPr lang="en-US" sz="1400" dirty="0"/>
          </ns1:p>
        </ns0:txBody>
      </ns0:sp>
      <ns0:sp>
        <ns0:nvSpPr>
          <ns0:cNvPr id="25" name="Shape 21"/>
          <ns0:cNvSpPr/>
          <ns0:nvPr/>
        </ns0:nvSpPr>
        <ns0:spPr>
          <ns1:xfrm>
            <ns1:off x="4709160" y="2212848"/>
            <ns1:ext cx="3840480" cy="402336"/>
          </ns1:xfrm>
          <ns1:prstGeom prst="rect">
            <ns1:avLst/>
          </ns1:prstGeom>
          <ns1:solidFill>
            <ns1:srgbClr val="FFFFFF"/>
          </ns1:solidFill>
          <ns1:ln w="12700">
            <ns1:solidFill>
              <ns1:srgbClr val="E5E7EB"/>
            </ns1:solidFill>
            <ns1:prstDash val="solid"/>
          </ns1:ln>
        </ns0:spPr>
        <ns0:txBody>
          <ns1:bodyPr/>
          <ns1:lstStyle/>
          <ns1:p>
            <ns1:endParaRPr lang="ko-KR" altLang="en-US"/>
          </ns1:p>
        </ns0:txBody>
      </ns0:sp>
      <ns0:sp>
        <ns0:nvSpPr>
          <ns0:cNvPr id="26" name="Shape 22"/>
          <ns0:cNvSpPr/>
          <ns0:nvPr/>
        </ns0:nvSpPr>
        <ns0:spPr>
          <ns1:xfrm>
            <ns1:off x="4709160" y="2212848"/>
            <ns1:ext cx="73152" cy="402336"/>
          </ns1:xfrm>
          <ns1:prstGeom prst="rect">
            <ns1:avLst/>
          </ns1:prstGeom>
          <ns1:solidFill>
            <ns1:srgbClr val="3B82F6"/>
          </ns1:solidFill>
          <ns1:ln w="12700">
            <ns1:solidFill>
              <ns1:srgbClr val="3B82F6"/>
            </ns1:solidFill>
            <ns1:prstDash val="solid"/>
          </ns1:ln>
        </ns0:spPr>
        <ns0:txBody>
          <ns1:bodyPr/>
          <ns1:lstStyle/>
          <ns1:p>
            <ns1:endParaRPr lang="ko-KR" altLang="en-US"/>
          </ns1:p>
        </ns0:txBody>
      </ns0:sp>
      <ns0:sp>
        <ns0:nvSpPr>
          <ns0:cNvPr id="27" name="Text 23"/>
          <ns0:cNvSpPr/>
          <ns0:nvPr/>
        </ns0:nvSpPr>
        <ns0:spPr>
          <ns1:xfrm>
            <ns1:off x="4864608" y="2212848"/>
            <ns1:ext cx="100584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lang="en-US" sz="1100" b="1" dirty="0">
                <ns1:solidFill>
                  <ns1:srgbClr val="1D4ED8"/>
                </ns1:solidFill>
                <ns1:latin typeface="Consolas" pitchFamily="34" charset="0"/>
                <ns1:ea typeface="Consolas" pitchFamily="34" charset="-122"/>
                <ns1:cs typeface="Consolas" pitchFamily="34" charset="-120"/>
              </ns1:rPr>
              <ns1:t>Scene</ns1:t>
            </ns1:r>
            <ns1:endParaRPr lang="en-US" sz="1100" dirty="0"/>
          </ns1:p>
        </ns0:txBody>
      </ns0:sp>
      <ns0:sp>
        <ns0:nvSpPr>
          <ns0:cNvPr id="28" name="Text 24"/>
          <ns0:cNvSpPr/>
          <ns0:nvPr/>
        </ns0:nvSpPr>
        <ns0:spPr>
          <ns1:xfrm>
            <ns1:off x="5925312" y="2212848"/>
            <ns1:ext cx="256032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sz="1050">
                <ns1:latin typeface="Malgun Gothic"/>
              </ns1:rPr>
              <ns1:t>강남 9개 동 3D 지도 + 조명 설정</ns1:t>
            </ns1:r>
            <ns1:endParaRPr lang="en-US" sz="1100" dirty="0"/>
          </ns1:p>
        </ns0:txBody>
      </ns0:sp>
      <ns0:sp>
        <ns0:nvSpPr>
          <ns0:cNvPr id="29" name="Shape 25"/>
          <ns0:cNvSpPr/>
          <ns0:nvPr/>
        </ns0:nvSpPr>
        <ns0:spPr>
          <ns1:xfrm>
            <ns1:off x="4709160" y="2697480"/>
            <ns1:ext cx="3840480" cy="402336"/>
          </ns1:xfrm>
          <ns1:prstGeom prst="rect">
            <ns1:avLst/>
          </ns1:prstGeom>
          <ns1:solidFill>
            <ns1:srgbClr val="FFFFFF"/>
          </ns1:solidFill>
          <ns1:ln w="12700">
            <ns1:solidFill>
              <ns1:srgbClr val="E5E7EB"/>
            </ns1:solidFill>
            <ns1:prstDash val="solid"/>
          </ns1:ln>
        </ns0:spPr>
        <ns0:txBody>
          <ns1:bodyPr/>
          <ns1:lstStyle/>
          <ns1:p>
            <ns1:endParaRPr lang="ko-KR" altLang="en-US"/>
          </ns1:p>
        </ns0:txBody>
      </ns0:sp>
      <ns0:sp>
        <ns0:nvSpPr>
          <ns0:cNvPr id="30" name="Shape 26"/>
          <ns0:cNvSpPr/>
          <ns0:nvPr/>
        </ns0:nvSpPr>
        <ns0:spPr>
          <ns1:xfrm>
            <ns1:off x="4709160" y="2697480"/>
            <ns1:ext cx="73152" cy="402336"/>
          </ns1:xfrm>
          <ns1:prstGeom prst="rect">
            <ns1:avLst/>
          </ns1:prstGeom>
          <ns1:solidFill>
            <ns1:srgbClr val="3B82F6"/>
          </ns1:solidFill>
          <ns1:ln w="12700">
            <ns1:solidFill>
              <ns1:srgbClr val="3B82F6"/>
            </ns1:solidFill>
            <ns1:prstDash val="solid"/>
          </ns1:ln>
        </ns0:spPr>
        <ns0:txBody>
          <ns1:bodyPr/>
          <ns1:lstStyle/>
          <ns1:p>
            <ns1:endParaRPr lang="ko-KR" altLang="en-US"/>
          </ns1:p>
        </ns0:txBody>
      </ns0:sp>
      <ns0:sp>
        <ns0:nvSpPr>
          <ns0:cNvPr id="31" name="Text 27"/>
          <ns0:cNvSpPr/>
          <ns0:nvPr/>
        </ns0:nvSpPr>
        <ns0:spPr>
          <ns1:xfrm>
            <ns1:off x="4864608" y="2697480"/>
            <ns1:ext cx="100584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lang="en-US" sz="1100" b="1" dirty="0">
                <ns1:solidFill>
                  <ns1:srgbClr val="1D4ED8"/>
                </ns1:solidFill>
                <ns1:latin typeface="Consolas" pitchFamily="34" charset="0"/>
                <ns1:ea typeface="Consolas" pitchFamily="34" charset="-122"/>
                <ns1:cs typeface="Consolas" pitchFamily="34" charset="-120"/>
              </ns1:rPr>
              <ns1:t>Road</ns1:t>
            </ns1:r>
            <ns1:endParaRPr lang="en-US" sz="1100" dirty="0"/>
          </ns1:p>
        </ns0:txBody>
      </ns0:sp>
      <ns0:sp>
        <ns0:nvSpPr>
          <ns0:cNvPr id="32" name="Text 28"/>
          <ns0:cNvSpPr/>
          <ns0:nvPr/>
        </ns0:nvSpPr>
        <ns0:spPr>
          <ns1:xfrm>
            <ns1:off x="5925312" y="2697480"/>
            <ns1:ext cx="256032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lang="en-US" sz="1100" dirty="0">
                <ns1:solidFill>
                  <ns1:srgbClr val="2D2D2D"/>
                </ns1:solidFill>
                <ns1:latin typeface="Arial" pitchFamily="34" charset="0"/>
                <ns1:ea typeface="Arial" pitchFamily="34" charset="-122"/>
                <ns1:cs typeface="Arial" pitchFamily="34" charset="-120"/>
              </ns1:rPr>
              <ns1:t>OSM 엣지 → LineSegments 렌더</ns1:t>
            </ns1:r>
            <ns1:endParaRPr lang="en-US" sz="1100" dirty="0"/>
          </ns1:p>
        </ns0:txBody>
      </ns0:sp>
      <ns0:sp>
        <ns0:nvSpPr>
          <ns0:cNvPr id="33" name="Shape 29"/>
          <ns0:cNvSpPr/>
          <ns0:nvPr/>
        </ns0:nvSpPr>
        <ns0:spPr>
          <ns1:xfrm>
            <ns1:off x="4709160" y="3182112"/>
            <ns1:ext cx="3840480" cy="402336"/>
          </ns1:xfrm>
          <ns1:prstGeom prst="rect">
            <ns1:avLst/>
          </ns1:prstGeom>
          <ns1:solidFill>
            <ns1:srgbClr val="FFFFFF"/>
          </ns1:solidFill>
          <ns1:ln w="12700">
            <ns1:solidFill>
              <ns1:srgbClr val="E5E7EB"/>
            </ns1:solidFill>
            <ns1:prstDash val="solid"/>
          </ns1:ln>
        </ns0:spPr>
        <ns0:txBody>
          <ns1:bodyPr/>
          <ns1:lstStyle/>
          <ns1:p>
            <ns1:endParaRPr lang="ko-KR" altLang="en-US"/>
          </ns1:p>
        </ns0:txBody>
      </ns0:sp>
      <ns0:sp>
        <ns0:nvSpPr>
          <ns0:cNvPr id="34" name="Shape 30"/>
          <ns0:cNvSpPr/>
          <ns0:nvPr/>
        </ns0:nvSpPr>
        <ns0:spPr>
          <ns1:xfrm>
            <ns1:off x="4709160" y="3182112"/>
            <ns1:ext cx="73152" cy="402336"/>
          </ns1:xfrm>
          <ns1:prstGeom prst="rect">
            <ns1:avLst/>
          </ns1:prstGeom>
          <ns1:solidFill>
            <ns1:srgbClr val="3B82F6"/>
          </ns1:solidFill>
          <ns1:ln w="12700">
            <ns1:solidFill>
              <ns1:srgbClr val="3B82F6"/>
            </ns1:solidFill>
            <ns1:prstDash val="solid"/>
          </ns1:ln>
        </ns0:spPr>
        <ns0:txBody>
          <ns1:bodyPr/>
          <ns1:lstStyle/>
          <ns1:p>
            <ns1:endParaRPr lang="ko-KR" altLang="en-US"/>
          </ns1:p>
        </ns0:txBody>
      </ns0:sp>
      <ns0:sp>
        <ns0:nvSpPr>
          <ns0:cNvPr id="35" name="Text 31"/>
          <ns0:cNvSpPr/>
          <ns0:nvPr/>
        </ns0:nvSpPr>
        <ns0:spPr>
          <ns1:xfrm>
            <ns1:off x="4864608" y="3182112"/>
            <ns1:ext cx="100584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lang="en-US" sz="1100" b="1" dirty="0">
                <ns1:solidFill>
                  <ns1:srgbClr val="1D4ED8"/>
                </ns1:solidFill>
                <ns1:latin typeface="Consolas" pitchFamily="34" charset="0"/>
                <ns1:ea typeface="Consolas" pitchFamily="34" charset="-122"/>
                <ns1:cs typeface="Consolas" pitchFamily="34" charset="-120"/>
              </ns1:rPr>
              <ns1:t>Taxi</ns1:t>
            </ns1:r>
            <ns1:endParaRPr lang="en-US" sz="1100" dirty="0"/>
          </ns1:p>
        </ns0:txBody>
      </ns0:sp>
      <ns0:sp>
        <ns0:nvSpPr>
          <ns0:cNvPr id="36" name="Text 32"/>
          <ns0:cNvSpPr/>
          <ns0:nvPr/>
        </ns0:nvSpPr>
        <ns0:spPr>
          <ns1:xfrm>
            <ns1:off x="5925312" y="3182112"/>
            <ns1:ext cx="256032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lang="en-US" sz="1100" dirty="0">
                <ns1:solidFill>
                  <ns1:srgbClr val="2D2D2D"/>
                </ns1:solidFill>
                <ns1:latin typeface="Arial" pitchFamily="34" charset="0"/>
                <ns1:ea typeface="Arial" pitchFamily="34" charset="-122"/>
                <ns1:cs typeface="Arial" pitchFamily="34" charset="-120"/>
              </ns1:rPr>
              <ns1:t>BoxGeometry + 경로 애니메이션</ns1:t>
            </ns1:r>
            <ns1:endParaRPr lang="en-US" sz="1100" dirty="0"/>
          </ns1:p>
        </ns0:txBody>
      </ns0:sp>
      <ns0:sp>
        <ns0:nvSpPr>
          <ns0:cNvPr id="37" name="Shape 33"/>
          <ns0:cNvSpPr/>
          <ns0:nvPr/>
        </ns0:nvSpPr>
        <ns0:spPr>
          <ns1:xfrm>
            <ns1:off x="4709160" y="3666744"/>
            <ns1:ext cx="3840480" cy="402336"/>
          </ns1:xfrm>
          <ns1:prstGeom prst="rect">
            <ns1:avLst/>
          </ns1:prstGeom>
          <ns1:solidFill>
            <ns1:srgbClr val="FFFFFF"/>
          </ns1:solidFill>
          <ns1:ln w="12700">
            <ns1:solidFill>
              <ns1:srgbClr val="E5E7EB"/>
            </ns1:solidFill>
            <ns1:prstDash val="solid"/>
          </ns1:ln>
        </ns0:spPr>
        <ns0:txBody>
          <ns1:bodyPr/>
          <ns1:lstStyle/>
          <ns1:p>
            <ns1:endParaRPr lang="ko-KR" altLang="en-US"/>
          </ns1:p>
        </ns0:txBody>
      </ns0:sp>
      <ns0:sp>
        <ns0:nvSpPr>
          <ns0:cNvPr id="38" name="Shape 34"/>
          <ns0:cNvSpPr/>
          <ns0:nvPr/>
        </ns0:nvSpPr>
        <ns0:spPr>
          <ns1:xfrm>
            <ns1:off x="4709160" y="3666744"/>
            <ns1:ext cx="73152" cy="402336"/>
          </ns1:xfrm>
          <ns1:prstGeom prst="rect">
            <ns1:avLst/>
          </ns1:prstGeom>
          <ns1:solidFill>
            <ns1:srgbClr val="3B82F6"/>
          </ns1:solidFill>
          <ns1:ln w="12700">
            <ns1:solidFill>
              <ns1:srgbClr val="3B82F6"/>
            </ns1:solidFill>
            <ns1:prstDash val="solid"/>
          </ns1:ln>
        </ns0:spPr>
        <ns0:txBody>
          <ns1:bodyPr/>
          <ns1:lstStyle/>
          <ns1:p>
            <ns1:endParaRPr lang="ko-KR" altLang="en-US"/>
          </ns1:p>
        </ns0:txBody>
      </ns0:sp>
      <ns0:sp>
        <ns0:nvSpPr>
          <ns0:cNvPr id="39" name="Text 35"/>
          <ns0:cNvSpPr/>
          <ns0:nvPr/>
        </ns0:nvSpPr>
        <ns0:spPr>
          <ns1:xfrm>
            <ns1:off x="4864608" y="3666744"/>
            <ns1:ext cx="100584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lang="en-US" sz="1100" b="1" dirty="0">
                <ns1:solidFill>
                  <ns1:srgbClr val="1D4ED8"/>
                </ns1:solidFill>
                <ns1:latin typeface="Consolas" pitchFamily="34" charset="0"/>
                <ns1:ea typeface="Consolas" pitchFamily="34" charset="-122"/>
                <ns1:cs typeface="Consolas" pitchFamily="34" charset="-120"/>
              </ns1:rPr>
              <ns1:t>Demand</ns1:t>
            </ns1:r>
            <ns1:endParaRPr lang="en-US" sz="1100" dirty="0"/>
          </ns1:p>
        </ns0:txBody>
      </ns0:sp>
      <ns0:sp>
        <ns0:nvSpPr>
          <ns0:cNvPr id="40" name="Text 36"/>
          <ns0:cNvSpPr/>
          <ns0:nvPr/>
        </ns0:nvSpPr>
        <ns0:spPr>
          <ns1:xfrm>
            <ns1:off x="5925312" y="3666744"/>
            <ns1:ext cx="256032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lang="en-US" sz="1100" dirty="0">
                <ns1:solidFill>
                  <ns1:srgbClr val="2D2D2D"/>
                </ns1:solidFill>
                <ns1:latin typeface="Arial" pitchFamily="34" charset="0"/>
                <ns1:ea typeface="Arial" pitchFamily="34" charset="-122"/>
                <ns1:cs typeface="Arial" pitchFamily="34" charset="-120"/>
              </ns1:rPr>
              <ns1:t>히트맵 레이어 (수요 시각화)</ns1:t>
            </ns1:r>
            <ns1:endParaRPr lang="en-US" sz="1100" dirty="0"/>
          </ns1:p>
        </ns0:txBody>
      </ns0:sp>
      <ns0:sp>
        <ns0:nvSpPr>
          <ns0:cNvPr id="41" name="Shape 37"/>
          <ns0:cNvSpPr/>
          <ns0:nvPr/>
        </ns0:nvSpPr>
        <ns0:spPr>
          <ns1:xfrm>
            <ns1:off x="4709160" y="4151376"/>
            <ns1:ext cx="3840480" cy="402336"/>
          </ns1:xfrm>
          <ns1:prstGeom prst="rect">
            <ns1:avLst/>
          </ns1:prstGeom>
          <ns1:solidFill>
            <ns1:srgbClr val="FFFFFF"/>
          </ns1:solidFill>
          <ns1:ln w="12700">
            <ns1:solidFill>
              <ns1:srgbClr val="E5E7EB"/>
            </ns1:solidFill>
            <ns1:prstDash val="solid"/>
          </ns1:ln>
        </ns0:spPr>
        <ns0:txBody>
          <ns1:bodyPr/>
          <ns1:lstStyle/>
          <ns1:p>
            <ns1:endParaRPr lang="ko-KR" altLang="en-US"/>
          </ns1:p>
        </ns0:txBody>
      </ns0:sp>
      <ns0:sp>
        <ns0:nvSpPr>
          <ns0:cNvPr id="42" name="Shape 38"/>
          <ns0:cNvSpPr/>
          <ns0:nvPr/>
        </ns0:nvSpPr>
        <ns0:spPr>
          <ns1:xfrm>
            <ns1:off x="4709160" y="4151376"/>
            <ns1:ext cx="73152" cy="402336"/>
          </ns1:xfrm>
          <ns1:prstGeom prst="rect">
            <ns1:avLst/>
          </ns1:prstGeom>
          <ns1:solidFill>
            <ns1:srgbClr val="3B82F6"/>
          </ns1:solidFill>
          <ns1:ln w="12700">
            <ns1:solidFill>
              <ns1:srgbClr val="3B82F6"/>
            </ns1:solidFill>
            <ns1:prstDash val="solid"/>
          </ns1:ln>
        </ns0:spPr>
        <ns0:txBody>
          <ns1:bodyPr/>
          <ns1:lstStyle/>
          <ns1:p>
            <ns1:endParaRPr lang="ko-KR" altLang="en-US"/>
          </ns1:p>
        </ns0:txBody>
      </ns0:sp>
      <ns0:sp>
        <ns0:nvSpPr>
          <ns0:cNvPr id="43" name="Text 39"/>
          <ns0:cNvSpPr/>
          <ns0:nvPr/>
        </ns0:nvSpPr>
        <ns0:spPr>
          <ns1:xfrm>
            <ns1:off x="4864608" y="4151376"/>
            <ns1:ext cx="100584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lang="en-US" sz="1100" b="1" dirty="0">
                <ns1:solidFill>
                  <ns1:srgbClr val="1D4ED8"/>
                </ns1:solidFill>
                <ns1:latin typeface="Consolas" pitchFamily="34" charset="0"/>
                <ns1:ea typeface="Consolas" pitchFamily="34" charset="-122"/>
                <ns1:cs typeface="Consolas" pitchFamily="34" charset="-120"/>
              </ns1:rPr>
              <ns1:t>Camera</ns1:t>
            </ns1:r>
            <ns1:endParaRPr lang="en-US" sz="1100" dirty="0"/>
          </ns1:p>
        </ns0:txBody>
      </ns0:sp>
      <ns0:sp>
        <ns0:nvSpPr>
          <ns0:cNvPr id="44" name="Text 40"/>
          <ns0:cNvSpPr/>
          <ns0:nvPr/>
        </ns0:nvSpPr>
        <ns0:spPr>
          <ns1:xfrm>
            <ns1:off x="5925312" y="4151376"/>
            <ns1:ext cx="256032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lang="en-US" sz="1100" dirty="0">
                <ns1:solidFill>
                  <ns1:srgbClr val="2D2D2D"/>
                </ns1:solidFill>
                <ns1:latin typeface="Arial" pitchFamily="34" charset="0"/>
                <ns1:ea typeface="Arial" pitchFamily="34" charset="-122"/>
                <ns1:cs typeface="Arial" pitchFamily="34" charset="-120"/>
              </ns1:rPr>
              <ns1:t>OrbitControls — 마우스 회전/줌</ns1:t>
            </ns1:r>
            <ns1:endParaRPr lang="en-US" sz="1100" dirty="0"/>
          </ns1:p>
        </ns0:txBody>
      </ns0:sp>
    </ns0:spTree>
  </ns0:cSld>
  <ns0:clrMapOvr>
    <ns1:masterClrMapping/>
  </ns0:clrMapOvr>
</ns0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역삼 택시  ·  Digital Twin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배포 환경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800" b="1">
                <a:latin typeface="Malgun Gothic"/>
              </a:rPr>
              <a:t>Cloudflare Workers 배포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누구나 URL 하나로 바로 접속 — 설치 없이 브라우저에서 라이브 데모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1828800" cy="18288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" y="2011680"/>
            <a:ext cx="685800" cy="6858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8640" y="27889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Push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브랜치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2423160" y="25146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2651760" y="1828800"/>
            <a:ext cx="1828800" cy="1828800"/>
          </a:xfrm>
          <a:prstGeom prst="rect">
            <a:avLst/>
          </a:prstGeom>
          <a:solidFill>
            <a:srgbClr val="F6821F"/>
          </a:solidFill>
          <a:ln w="12700">
            <a:solidFill>
              <a:srgbClr val="F6821F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7832" y="2011680"/>
            <a:ext cx="685800" cy="6858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651760" y="27889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500" b="1">
                <a:latin typeface="Malgun Gothic"/>
              </a:rPr>
              <a:t>OpenNext 빌드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265176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CI/CD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526280" y="25146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4"/>
          <p:cNvSpPr/>
          <p:nvPr/>
        </p:nvSpPr>
        <p:spPr>
          <a:xfrm>
            <a:off x="4754880" y="1828800"/>
            <a:ext cx="1828800" cy="18288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0952" y="2011680"/>
            <a:ext cx="685800" cy="6858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754880" y="27889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500" b="1">
                <a:latin typeface="Malgun Gothic"/>
              </a:rPr>
              <a:t>Cloudflare 배포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475488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Network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6629400" y="25146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6858000" y="1828800"/>
            <a:ext cx="1828800" cy="18288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34072" y="2011680"/>
            <a:ext cx="685800" cy="68580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858000" y="27889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브라우저 데모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685800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 공유만으로 OK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365760" y="3931920"/>
            <a:ext cx="8412480" cy="6858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2"/>
          <p:cNvSpPr/>
          <p:nvPr/>
        </p:nvSpPr>
        <p:spPr>
          <a:xfrm>
            <a:off x="365760" y="3931920"/>
            <a:ext cx="73152" cy="68580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3"/>
          <p:cNvSpPr/>
          <p:nvPr/>
        </p:nvSpPr>
        <p:spPr>
          <a:xfrm>
            <a:off x="548640" y="3950208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배포 이점: 팀원 모두 동일한 환경에서 결과 확인  ·  발표 시 노트북 환경 세팅 불필요  ·  동료 평가자가 URL로 바로 코드·데모 접속  ·  자동 HTTPS · 무료 CDN 글로벌 서빙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역삼 택시  ·  Digital Twin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구조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4개 모듈 통합 아키텍처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1920240" cy="31546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920240" cy="109728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365760" y="169164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65760" y="2359152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Twin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시뮬레이션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" y="3337560"/>
            <a:ext cx="1645920" cy="36576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365760" y="3456432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080">
                <a:solidFill>
                  <a:srgbClr val="AAAAAA"/>
                </a:solidFill>
                <a:latin typeface="Malgun Gothic"/>
              </a:rPr>
              <a:t>Three.js · OSM | 강남 9개 동 3D 환경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304288" y="265176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496312" y="1508760"/>
            <a:ext cx="1920240" cy="315468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2496312" y="1508760"/>
            <a:ext cx="1920240" cy="109728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2496312" y="169164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M2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2496312" y="2359152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시공간 데이터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전처리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633472" y="3337560"/>
            <a:ext cx="1645920" cy="36576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2496312" y="3456432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행정동 단위 OD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 Feature 생성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434840" y="265176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626864" y="1508760"/>
            <a:ext cx="1920240" cy="315468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4626864" y="1508760"/>
            <a:ext cx="1920240" cy="109728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4626864" y="169164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M3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4626864" y="2359152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650" b="1">
                <a:latin typeface="Malgun Gothic"/>
              </a:rPr>
              <a:t>이동 수요 proxy</a:t>
            </a:r>
            <a:endParaRPr lang="en-US" sz="1400" dirty="0"/>
          </a:p>
          <a:p>
            <a:pPr algn="ctr"/>
            <a:r>
              <a:rPr sz="1650" b="1">
                <a:latin typeface="Malgun Gothic"/>
              </a:rPr>
              <a:t>예측 모델</a:t>
            </a:r>
          </a:p>
        </p:txBody>
      </p:sp>
      <p:sp>
        <p:nvSpPr>
          <p:cNvPr id="25" name="Shape 23"/>
          <p:cNvSpPr/>
          <p:nvPr/>
        </p:nvSpPr>
        <p:spPr>
          <a:xfrm>
            <a:off x="4764024" y="3337560"/>
            <a:ext cx="1645920" cy="36576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4626864" y="3456432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150">
                <a:latin typeface="Malgun Gothic"/>
              </a:rPr>
              <a:t>HistGradientBoosting</a:t>
            </a:r>
            <a:endParaRPr lang="en-US" sz="1100" dirty="0"/>
          </a:p>
          <a:p>
            <a:pPr algn="ctr"/>
            <a:r>
              <a:rPr sz="1150">
                <a:latin typeface="Malgun Gothic"/>
              </a:rPr>
              <a:t>MAE/RMSE/R² 평가</a:t>
            </a:r>
          </a:p>
        </p:txBody>
      </p:sp>
      <p:sp>
        <p:nvSpPr>
          <p:cNvPr id="27" name="Text 25"/>
          <p:cNvSpPr/>
          <p:nvPr/>
        </p:nvSpPr>
        <p:spPr>
          <a:xfrm>
            <a:off x="6565392" y="265176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757416" y="1508760"/>
            <a:ext cx="1920240" cy="31546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6757416" y="1508760"/>
            <a:ext cx="1920240" cy="109728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6757416" y="169164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M4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757416" y="2359152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700" b="1">
                <a:latin typeface="Malgun Gothic"/>
              </a:rPr>
              <a:t>서비스 연결</a:t>
            </a:r>
            <a:endParaRPr lang="en-US" sz="1400" dirty="0"/>
          </a:p>
          <a:p>
            <a:pPr algn="ctr"/>
            <a:r>
              <a:rPr sz="1700" b="1">
                <a:latin typeface="Malgun Gothic"/>
              </a:rPr>
              <a:t>다음 단계</a:t>
            </a:r>
          </a:p>
        </p:txBody>
      </p:sp>
      <p:sp>
        <p:nvSpPr>
          <p:cNvPr id="32" name="Shape 30"/>
          <p:cNvSpPr/>
          <p:nvPr/>
        </p:nvSpPr>
        <p:spPr>
          <a:xfrm>
            <a:off x="6894576" y="3337560"/>
            <a:ext cx="1645920" cy="36576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757416" y="3456432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130">
                <a:latin typeface="Malgun Gothic"/>
              </a:rPr>
              <a:t>지도 overlay</a:t>
            </a:r>
            <a:endParaRPr lang="en-US" sz="1100" dirty="0"/>
          </a:p>
          <a:p>
            <a:pPr algn="ctr"/>
            <a:r>
              <a:rPr sz="1130">
                <a:latin typeface="Malgun Gothic"/>
              </a:rPr>
              <a:t>실제 호출 데이터 확보 시 보정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420624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역삼 택시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</a:rPr>
              <a:t>프로젝트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68096"/>
            <a:ext cx="8229600" cy="4754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실제 화면: 브라우저에서 보는 3D 택시 시뮬레이터</a:t>
            </a:r>
          </a:p>
        </p:txBody>
      </p:sp>
      <p:pic>
        <p:nvPicPr>
          <p:cNvPr id="7" name="Picture 6" descr="scenario-baseline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17320"/>
            <a:ext cx="5257800" cy="295751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989320" y="1417320"/>
            <a:ext cx="2697480" cy="30632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989320" y="1417320"/>
            <a:ext cx="2697480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36208" y="1700784"/>
            <a:ext cx="1828800" cy="27432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algun Gothic"/>
              </a:rPr>
              <a:t>핵심 기능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2148840"/>
            <a:ext cx="2148840" cy="15087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19">
                <a:latin typeface="Malgun Gothic"/>
              </a:rPr>
              <a:t>• OSM 도로·건물·행정동 시각화</a:t>
            </a:r>
          </a:p>
          <a:p>
            <a:pPr algn="l"/>
            <a:r>
              <a:rPr sz="1019">
                <a:latin typeface="Malgun Gothic"/>
              </a:rPr>
              <a:t>• 택시와 일반 교통 흐름 애니메이션</a:t>
            </a:r>
          </a:p>
          <a:p>
            <a:pPr algn="l"/>
            <a:r>
              <a:rPr sz="1019">
                <a:latin typeface="Malgun Gothic"/>
              </a:rPr>
              <a:t>• 날씨·시간·수요 시나리오 전환</a:t>
            </a:r>
          </a:p>
          <a:p>
            <a:pPr algn="l"/>
            <a:r>
              <a:rPr sz="1019">
                <a:latin typeface="Malgun Gothic"/>
              </a:rPr>
              <a:t>• 발표 자료 페이지와 바로 연결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3986784"/>
            <a:ext cx="2157984" cy="292608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09360" y="4050791"/>
            <a:ext cx="2011680" cy="16459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Three.js · Next.js · Cloudflare Workers</a:t>
            </a:r>
          </a:p>
        </p:txBody>
      </p:sp>
    </p:spTree>
    <p:extLst>
      <p:ext uri="{BB962C8B-B14F-4D97-AF65-F5344CB8AC3E}">
        <p14:creationId xmlns:p14="http://schemas.microsoft.com/office/powerpoint/2010/main" val="19148161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420624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역삼 택시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</a:rPr>
              <a:t>데이터 수집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68096"/>
            <a:ext cx="8229600" cy="4754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데이터 수집: 생활인구 proxy → 대중교통 proxy 전환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719072"/>
            <a:ext cx="8321040" cy="512064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792224"/>
            <a:ext cx="201168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algun Gothic"/>
              </a:rPr>
              <a:t>서울시 대중교통 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792224"/>
            <a:ext cx="283464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Malgun Gothic"/>
              </a:rPr>
              <a:t>2024~2025 행정동별 시간대 승차량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1792224"/>
            <a:ext cx="233172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  <a:latin typeface="Malgun Gothic"/>
              </a:rPr>
              <a:t>예측 target, lag feature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377439"/>
            <a:ext cx="8321040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2450591"/>
            <a:ext cx="201168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algun Gothic"/>
              </a:rPr>
              <a:t>행정동 마스터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450591"/>
            <a:ext cx="283464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Malgun Gothic"/>
              </a:rPr>
              <a:t>행정동 코드와 이름 매핑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450591"/>
            <a:ext cx="233172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  <a:latin typeface="Malgun Gothic"/>
              </a:rPr>
              <a:t>강남 9개 동 필터링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035808"/>
            <a:ext cx="8321040" cy="512064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3108960"/>
            <a:ext cx="201168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algun Gothic"/>
              </a:rPr>
              <a:t>기상청 ASOS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3108960"/>
            <a:ext cx="283464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Malgun Gothic"/>
              </a:rPr>
              <a:t>기온, 강수, 습도, 풍속, 적설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3108960"/>
            <a:ext cx="233172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  <a:latin typeface="Malgun Gothic"/>
              </a:rPr>
              <a:t>날씨 feature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694176"/>
            <a:ext cx="8321040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3767328"/>
            <a:ext cx="201168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algun Gothic"/>
              </a:rPr>
              <a:t>특일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3767328"/>
            <a:ext cx="283464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Malgun Gothic"/>
              </a:rPr>
              <a:t>공휴일, 공휴일 전날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3767328"/>
            <a:ext cx="233172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  <a:latin typeface="Malgun Gothic"/>
              </a:rPr>
              <a:t>휴일 feature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526280"/>
            <a:ext cx="8321040" cy="329184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94360" y="4590288"/>
            <a:ext cx="7955279" cy="20116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Malgun Gothic"/>
              </a:rPr>
              <a:t>처리 흐름  ·  시간 기준 정렬 → 강남 9개 동 필터링 → 날씨/휴일 join → lag feature 생성 → Colab 학습용 CSV export</a:t>
            </a:r>
          </a:p>
        </p:txBody>
      </p:sp>
    </p:spTree>
    <p:extLst>
      <p:ext uri="{BB962C8B-B14F-4D97-AF65-F5344CB8AC3E}">
        <p14:creationId xmlns:p14="http://schemas.microsoft.com/office/powerpoint/2010/main" val="32223426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420624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역삼 택시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</a:rPr>
              <a:t>학습 데이터셋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68096"/>
            <a:ext cx="8229600" cy="4754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학습 데이터셋과 예측 대상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261872"/>
            <a:ext cx="8229600" cy="27432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Malgun Gothic"/>
              </a:rPr>
              <a:t>택시 호출량이 아니라 대중교통 승차량을 이동 수요 proxy로 사용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" y="1627632"/>
            <a:ext cx="1874519" cy="10058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8912" y="1627632"/>
            <a:ext cx="1874519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3503" y="1828800"/>
            <a:ext cx="1554480" cy="32918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2200" b="1">
                <a:solidFill>
                  <a:srgbClr val="1A1A1A"/>
                </a:solidFill>
                <a:latin typeface="Malgun Gothic"/>
              </a:rPr>
              <a:t>153,783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3" y="2212848"/>
            <a:ext cx="1554480" cy="20116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100">
                <a:latin typeface="Malgun Gothic"/>
              </a:rPr>
              <a:t>모델 row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2" y="1627632"/>
            <a:ext cx="1874519" cy="10058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587752" y="1627632"/>
            <a:ext cx="1874519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52344" y="1828800"/>
            <a:ext cx="1554480" cy="32918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2200" b="1">
                <a:solidFill>
                  <a:srgbClr val="1A1A1A"/>
                </a:solidFill>
                <a:latin typeface="Malgun Gothic"/>
              </a:rPr>
              <a:t>712일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52344" y="2212848"/>
            <a:ext cx="1554480" cy="20116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950" b="0">
                <a:solidFill>
                  <a:srgbClr val="5C5C5C"/>
                </a:solidFill>
                <a:latin typeface="Malgun Gothic"/>
              </a:rPr>
              <a:t>분석 날짜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6592" y="1627632"/>
            <a:ext cx="1874519" cy="10058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736592" y="1627632"/>
            <a:ext cx="1874519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901183" y="1828800"/>
            <a:ext cx="1554480" cy="32918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2200" b="1">
                <a:solidFill>
                  <a:srgbClr val="1A1A1A"/>
                </a:solidFill>
                <a:latin typeface="Malgun Gothic"/>
              </a:rPr>
              <a:t>9개 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01183" y="2212848"/>
            <a:ext cx="1554480" cy="20116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950" b="0">
                <a:solidFill>
                  <a:srgbClr val="5C5C5C"/>
                </a:solidFill>
                <a:latin typeface="Malgun Gothic"/>
              </a:rPr>
              <a:t>예측 단위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85432" y="1627632"/>
            <a:ext cx="1874519" cy="10058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85432" y="1627632"/>
            <a:ext cx="1874519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50024" y="1828800"/>
            <a:ext cx="1554480" cy="32918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2200" b="1">
                <a:solidFill>
                  <a:srgbClr val="1A1A1A"/>
                </a:solidFill>
                <a:latin typeface="Malgun Gothic"/>
              </a:rPr>
              <a:t>1시간 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0024" y="2212848"/>
            <a:ext cx="1554480" cy="20116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950" b="0">
                <a:solidFill>
                  <a:srgbClr val="5C5C5C"/>
                </a:solidFill>
                <a:latin typeface="Malgun Gothic"/>
              </a:rPr>
              <a:t>예측 horizon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" y="3063240"/>
            <a:ext cx="4023360" cy="1298448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38912" y="3063240"/>
            <a:ext cx="402336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3246120"/>
            <a:ext cx="1463040" cy="25603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algun Gothic"/>
              </a:rPr>
              <a:t>입력 feature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547872"/>
            <a:ext cx="3383280" cy="65836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1F2937"/>
                </a:solidFill>
                <a:latin typeface="Malgun Gothic"/>
              </a:rPr>
              <a:t>• 동, 시간, 요일, 주말 여부
• 현재/직전/전날/전주 같은 시간 수요
• 기온, 강수량, 적설, 습도, 풍속
• 공휴일, 공휴일 전날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73168" y="3063240"/>
            <a:ext cx="3840480" cy="1298448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773168" y="3063240"/>
            <a:ext cx="3840480" cy="9144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0" y="3246120"/>
            <a:ext cx="1097280" cy="25603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algun Gothic"/>
              </a:rPr>
              <a:t>Target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3611880"/>
            <a:ext cx="2834640" cy="43891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algun Gothic"/>
              </a:rPr>
              <a:t>각 시점에서 1시간 뒤
동별 대중교통 승차량</a:t>
            </a:r>
          </a:p>
        </p:txBody>
      </p:sp>
    </p:spTree>
    <p:extLst>
      <p:ext uri="{BB962C8B-B14F-4D97-AF65-F5344CB8AC3E}">
        <p14:creationId xmlns:p14="http://schemas.microsoft.com/office/powerpoint/2010/main" val="33071054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420624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역삼 택시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</a:rPr>
              <a:t>모델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68096"/>
            <a:ext cx="8229600" cy="4754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테스트 구간 실제값 vs 예측값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261872"/>
            <a:ext cx="8229600" cy="27432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50">
                <a:solidFill>
                  <a:srgbClr val="4B5563"/>
                </a:solidFill>
                <a:latin typeface="Malgun Gothic"/>
              </a:rPr>
              <a:t>Test  MAE 165.7 / RMSE 393.7 / R² 0.985 · 평균 실제값 2,099명 대비 오차 약 166명</a:t>
            </a:r>
          </a:p>
        </p:txBody>
      </p:sp>
      <p:pic>
        <p:nvPicPr>
          <p:cNvPr id="8" name="Picture 7" descr="06_model_metrics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72768"/>
            <a:ext cx="4160520" cy="2548318"/>
          </a:xfrm>
          <a:prstGeom prst="rect">
            <a:avLst/>
          </a:prstGeom>
        </p:spPr>
      </p:pic>
      <p:pic>
        <p:nvPicPr>
          <p:cNvPr id="9" name="Picture 8" descr="07_actual_vs_predicted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5152" y="1572768"/>
            <a:ext cx="4160520" cy="254831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38912" y="4526280"/>
            <a:ext cx="8247888" cy="329184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4590288"/>
            <a:ext cx="7909560" cy="20116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919">
                <a:solidFill>
                  <a:srgbClr val="1F2937"/>
                </a:solidFill>
                <a:latin typeface="Malgun Gothic"/>
              </a:rPr>
              <a:t>해석: x축은 실제 대중교통 승차량, y축은 예측값입니다. 점이 대각선에 가까울수록 실제값과 예측값이 가깝습니다.</a:t>
            </a:r>
          </a:p>
        </p:txBody>
      </p:sp>
    </p:spTree>
    <p:extLst>
      <p:ext uri="{BB962C8B-B14F-4D97-AF65-F5344CB8AC3E}">
        <p14:creationId xmlns:p14="http://schemas.microsoft.com/office/powerpoint/2010/main" val="11683890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420624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역삼 택시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</a:rPr>
              <a:t>서비스 연결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68096"/>
            <a:ext cx="8229600" cy="4754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현재까지 한 것과 목표 프로토타입</a:t>
            </a:r>
          </a:p>
        </p:txBody>
      </p:sp>
      <p:pic>
        <p:nvPicPr>
          <p:cNvPr id="7" name="Picture 6" descr="08_prediction_timeseries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27632"/>
            <a:ext cx="4389120" cy="268833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74920" y="1627632"/>
            <a:ext cx="3611880" cy="27889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74920" y="1627632"/>
            <a:ext cx="3611880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21808" y="1828800"/>
            <a:ext cx="1554480" cy="27432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algun Gothic"/>
              </a:rPr>
              <a:t>현재 완료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21808" y="2212848"/>
            <a:ext cx="2926080" cy="10058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2937"/>
                </a:solidFill>
                <a:latin typeface="Malgun Gothic"/>
              </a:rPr>
              <a:t>• 메인 지도 상단에 발표 자료 버튼 추가
• /presentation에 데이터 출처와 모델 결과 정리
• PPT 다운로드 링크 연결
• Cloudflare 배포용 asset은 가볍게 유지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21808" y="3456432"/>
            <a:ext cx="1554480" cy="27432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150" b="1">
                <a:latin typeface="Malgun Gothic"/>
              </a:rPr>
              <a:t>목표 프로토타입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21808" y="3840480"/>
            <a:ext cx="2926080" cy="8229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>
                <a:latin typeface="Malgun Gothic"/>
              </a:rPr>
              <a:t>• 동별 수요를 색상으로 표현한 히트맵</a:t>
            </a:r>
          </a:p>
          <a:p>
            <a:pPr algn="l"/>
            <a:r>
              <a:rPr sz="950">
                <a:latin typeface="Malgun Gothic"/>
              </a:rPr>
              <a:t>• 역삼1동·논현1동·대치4동 등 상위 수요 표시</a:t>
            </a:r>
          </a:p>
          <a:p>
            <a:pPr algn="l"/>
            <a:r>
              <a:rPr sz="950">
                <a:latin typeface="Malgun Gothic"/>
              </a:rPr>
              <a:t>• 요일·시간·날씨 조건 반영 예정</a:t>
            </a:r>
          </a:p>
          <a:p>
            <a:pPr algn="l"/>
            <a:r>
              <a:rPr sz="950">
                <a:latin typeface="Malgun Gothic"/>
              </a:rPr>
              <a:t>• 이걸 3D 지도 위에 올리는 게 다음 단계</a:t>
            </a:r>
          </a:p>
        </p:txBody>
      </p:sp>
      <p:pic>
        <p:nvPicPr>
          <p:cNvPr id="20" name="heatm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143000"/>
            <a:ext cx="41148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959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420624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역삼 택시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</a:rPr>
              <a:t>한계와 다음 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68096"/>
            <a:ext cx="8229600" cy="4754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한계와 다음 개선점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64208"/>
            <a:ext cx="2514600" cy="29718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664208"/>
            <a:ext cx="251460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22960" y="1901952"/>
            <a:ext cx="1645920" cy="41148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1938528"/>
            <a:ext cx="1499616" cy="3383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606040"/>
            <a:ext cx="2011680" cy="141732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2937"/>
                </a:solidFill>
                <a:latin typeface="Malgun Gothic"/>
              </a:rPr>
              <a:t>• 실제 택시 호출량 데이터가 아님
• 대중교통 수요 ≠ 택시 수요
• 이동 수요 proxy로 해석 필요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1664208"/>
            <a:ext cx="2514600" cy="29718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200400" y="1664208"/>
            <a:ext cx="2514600" cy="9144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611880" y="1901952"/>
            <a:ext cx="1645920" cy="41148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85032" y="1938528"/>
            <a:ext cx="1499616" cy="3383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다음 개선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6432" y="2606040"/>
            <a:ext cx="2011680" cy="141732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2937"/>
                </a:solidFill>
                <a:latin typeface="Malgun Gothic"/>
              </a:rPr>
              <a:t>• 실제 호출 데이터 확보 시 보정
• 5분·15분 단위 예측으로 확장
• 지도 위 수요·신뢰도 함께 표시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89320" y="1664208"/>
            <a:ext cx="2514600" cy="29718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989320" y="1664208"/>
            <a:ext cx="251460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1645920" cy="41148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73952" y="1938528"/>
            <a:ext cx="1499616" cy="3383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중간 결론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2606040"/>
            <a:ext cx="2011680" cy="141732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2937"/>
                </a:solidFill>
                <a:latin typeface="Malgun Gothic"/>
              </a:rPr>
              <a:t>• 공개 데이터로 수요 신호 생성
• 수집→학습→서비스 흐름 확보
• 웹 기반 시연 환경까지 연결 완료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645152"/>
            <a:ext cx="7955279" cy="20116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919" b="1">
                <a:solidFill>
                  <a:srgbClr val="1A1A1A"/>
                </a:solidFill>
                <a:latin typeface="Malgun Gothic"/>
              </a:rPr>
              <a:t>마무리: 완성된 택시 수요 모델이라기보다, 공개 데이터로 근미래 이동 수요 신호를 만들고 서비스에 연결할 수 있음을 검증한 단계입니다.</a:t>
            </a:r>
          </a:p>
        </p:txBody>
      </p:sp>
    </p:spTree>
    <p:extLst>
      <p:ext uri="{BB962C8B-B14F-4D97-AF65-F5344CB8AC3E}">
        <p14:creationId xmlns:p14="http://schemas.microsoft.com/office/powerpoint/2010/main" val="18905670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0"/>
            <a:ext cx="2743200" cy="514350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97280"/>
            <a:ext cx="2194560" cy="21945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9144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감사합니다</a:t>
            </a:r>
            <a:endParaRPr lang="en-US" sz="5200" dirty="0"/>
          </a:p>
        </p:txBody>
      </p:sp>
      <p:sp>
        <p:nvSpPr>
          <p:cNvPr id="5" name="Text 2"/>
          <p:cNvSpPr/>
          <p:nvPr/>
        </p:nvSpPr>
        <p:spPr>
          <a:xfrm>
            <a:off x="548640" y="20574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700">
                <a:solidFill>
                  <a:srgbClr val="BBBBBB"/>
                </a:solidFill>
                <a:latin typeface="Malgun Gothic"/>
              </a:rPr>
              <a:t>역삼동 · Digital Twin · 이동 수요 proxy 예측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651760"/>
            <a:ext cx="5029200" cy="36576"/>
          </a:xfrm>
          <a:prstGeom prst="rect">
            <a:avLst/>
          </a:prstGeom>
          <a:solidFill>
            <a:srgbClr val="AAAAAA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4"/>
          <p:cNvSpPr/>
          <p:nvPr/>
        </p:nvSpPr>
        <p:spPr>
          <a:xfrm>
            <a:off x="548640" y="283464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🔗  github.com/kimcanal/yeoksam-taxi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32186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 yeoksam-taxi.kenny31.workers.dev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38404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Q&amp;A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1038</Words>
  <Application>Microsoft Office PowerPoint</Application>
  <PresentationFormat>화면 슬라이드 쇼(16:9)</PresentationFormat>
  <Paragraphs>200</Paragraphs>
  <Slides>14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9" baseType="lpstr">
      <vt:lpstr>Malgun Gothic</vt:lpstr>
      <vt:lpstr>Arial</vt:lpstr>
      <vt:lpstr>Arial Black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역삼 택시 Digital Twin</dc:title>
  <dc:subject>PptxGenJS Presentation</dc:subject>
  <dc:creator>PptxGenJS</dc:creator>
  <cp:lastModifiedBy>김윤하</cp:lastModifiedBy>
  <cp:revision>4</cp:revision>
  <dcterms:created xsi:type="dcterms:W3CDTF">2026-05-03T15:52:41Z</dcterms:created>
  <dcterms:modified xsi:type="dcterms:W3CDTF">2026-05-03T17:59:30Z</dcterms:modified>
</cp:coreProperties>
</file>